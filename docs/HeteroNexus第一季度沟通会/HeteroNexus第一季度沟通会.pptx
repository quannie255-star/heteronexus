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20" Type="http://schemas.openxmlformats.org/officeDocument/2006/relationships/viewProps" Target="viewProp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6.svg" /><Relationship Id="rId2" Type="http://schemas.openxmlformats.org/officeDocument/2006/relationships/image" Target="media/image5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padding: 0, position: 'relative', background: 'linear-gradient(135deg, #0E3F8C 0%, #1E4FA8 100%)', fontFamily: '&quot;Source Han Sans SC&quot;,&quot;Noto Sans SC&quot;,&quot;Microsoft YaHei&quot;,sans-serif' }}&gt;&#10;    {/* L1 主视觉：异构算力拓扑抽象（结构化 SVG，全篇统一视觉类型） */}&#10;    &lt;Box style={{ position: 'absolute', top: 0, left: 0, width: 1280, height: 720, opacity: 0.13 }}&gt;&#10;        &lt;svg width={1280} height={720} viewBox='0 0 1280 720'&gt;&#10;            &lt;g stroke='#FFFFFF' strokeWidth='1.5' fill='none'&gt;&#10;                &lt;path d='M150 130 L400 250 L690 170 L960 300 L1190 190' /&gt;&#10;                &lt;path d='M150 130 L290 440 L610 560 L960 300' /&gt;&#10;                &lt;path d='M400 250 L290 440' /&gt;&#10;                &lt;path d='M690 170 L610 560' /&gt;&#10;                &lt;path d='M960 300 L610 560' /&gt;&#10;                &lt;path d='M150 130 L610 560' /&gt;&#10;                &lt;path d='M400 250 L960 300' /&gt;&#10;            &lt;/g&gt;&#10;            &lt;g fill='#FFFFFF'&gt;&#10;                &lt;circle cx='150' cy='130' r='9' /&gt;&#10;                &lt;circle cx='400' cy='250' r='12' /&gt;&#10;                &lt;circle cx='690' cy='170' r='9' /&gt;&#10;                &lt;circle cx='960' cy='300' r='14' /&gt;&#10;                &lt;circle cx='1190' cy='190' r='8' /&gt;&#10;                &lt;circle cx='290' cy='440' r='10' /&gt;&#10;                &lt;circle cx='610' cy='560' r='12' /&gt;&#10;            &lt;/g&gt;&#10;        &lt;/svg&gt;&#10;    &lt;/Box&gt;&#10;&#10;    &lt;Box style={{ position: 'relative', zIndex: 1, width: 1280, height: 720, padding: '0 88px', flexDirection: 'column', justifyContent: 'center' }}&gt;&#10;        &lt;Box style={{ flexDirection: 'row', alignItems: 'center', gap: 10, marginBottom: 26 }}&gt;&#10;            &lt;Box style={{ width: 46, height: 3, background: '#FFC107' }} /&gt;&#10;            &lt;Text style={{ fontSize: 20, color: '#BFD3EE', letterSpacing: 1 }}&gt;2026 年中国人民大学「大学生创业训练计划」&lt;/Text&gt;&#10;        &lt;/Box&gt;&#10;&#10;        &lt;Text style={{ fontSize: 30, fontWeight: 'bold', color: '#BFD3EE', fontFamily: '&quot;Source Han Serif SC&quot;, Georgia, serif', lineHeight: 1.3, marginBottom: 18 }}&gt;&#10;            HeteroNexus: A Multi-Objective Deep Reinforcement Learning&#10;            &lt;br /&gt;&#10;            Scheduling Platform for Heterogeneous Computing Clusters&#10;        &lt;/Text&gt;&#10;&#10;        &lt;Text style={{ fontSize: 64, fontWeight: 'bold', color: '#FFFFFF', lineHeight: 1.2, marginBottom: 24 }}&gt;&#10;            面向深度学习训练的&#10;            &lt;br /&gt;&#10;            异构算力协同调度平台&#10;        &lt;/Text&gt;&#10;&#10;        &lt;Box style={{ width: 168, height: 5, background: '#FFC107', marginBottom: 26 }} /&gt;&#10;&#10;        &lt;Text style={{ fontSize: 24, color: '#E8EFF8', lineHeight: 1.5, marginBottom: 40 }}&gt;&#10;            第一季度项目沟通会 · 汇报材料 v1.0&#10;        &lt;/Text&gt;&#10;&#10;        &lt;Box style={{ flexDirection: 'row', gap: 56 }}&gt;&#10;            &lt;Box style={{ flexDirection: 'column', gap: 6 }}&gt;&#10;                &lt;Text style={{ fontSize: 14, color: '#8FB4E0' }}&gt;项目负责人&lt;/Text&gt;&#10;                &lt;Text style={{ fontSize: 20, color: '#FFFFFF', fontWeight: 'bold' }}&gt;聂权 · 统计学院&lt;/Text&gt;&#10;            &lt;/Box&gt;&#10;            &lt;Box style={{ flexDirection: 'column', gap: 6 }}&gt;&#10;                &lt;Text style={{ fontSize: 14, color: '#8FB4E0' }}&gt;项目周期&lt;/Text&gt;&#10;                &lt;Text style={{ fontSize: 20, color: '#FFFFFF', fontWeight: 'bold' }}&gt;2026.06 — 2027.05&lt;/Text&gt;&#10;            &lt;/Box&gt;&#10;            &lt;Box style={{ flexDirection: 'column', gap: 6 }}&gt;&#10;                &lt;Text style={{ fontSize: 14, color: '#8FB4E0' }}&gt;汇报时间&lt;/Text&gt;&#10;                &lt;Text style={{ fontSize: 20, color: '#FFFFFF', fontWeight: 'bold' }}&gt;2026 年 9 月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13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838200" y="1000125"/>
            <a:ext cx="438150" cy="2857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371600" y="895350"/>
            <a:ext cx="409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BFD3EE"/>
                </a:solidFill>
                <a:latin typeface="Source Han Sans SC"/>
                <a:ea typeface="Source Han Sans SC"/>
              </a:rPr>
              <a:t>2026 </a:t>
            </a:r>
            <a:r>
              <a:rPr lang="zh-CN" sz="1500" spc="75">
                <a:solidFill>
                  <a:srgbClr val="BFD3EE"/>
                </a:solidFill>
                <a:latin typeface="Source Han Sans SC"/>
                <a:ea typeface="Source Han Sans SC"/>
              </a:rPr>
              <a:t>年中国人民大学「大学生创业训练计划」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38200" y="1371600"/>
            <a:ext cx="10515600" cy="895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BFD3EE"/>
                </a:solidFill>
                <a:latin typeface="Source Han Serif SC"/>
                <a:ea typeface="Source Han Serif SC"/>
              </a:rPr>
              <a:t>HeteroNexus: A Multi-Objective Deep Reinforcement Learning</a:t>
            </a:r>
            <a:endParaRPr/>
          </a:p>
          <a:p>
            <a:pPr>
              <a:lnSpc>
                <a:spcPct val="130000"/>
              </a:lnSpc>
            </a:pPr>
            <a:r>
              <a:rPr lang="en-US" sz="2250" b="1">
                <a:solidFill>
                  <a:srgbClr val="BFD3EE"/>
                </a:solidFill>
                <a:latin typeface="Source Han Serif SC"/>
                <a:ea typeface="Source Han Serif SC"/>
              </a:rPr>
              <a:t>Scheduling Platform for Heterogeneous Computing Clusters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838200" y="2438400"/>
            <a:ext cx="105156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面向深度学习训练的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FFFFFF"/>
                </a:solidFill>
                <a:latin typeface="Source Han Sans SC"/>
                <a:ea typeface="Source Han Sans SC"/>
              </a:rPr>
              <a:t>异构算力协同调度平台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8200" y="4429125"/>
            <a:ext cx="16002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724400"/>
            <a:ext cx="10515600" cy="4191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800">
                <a:solidFill>
                  <a:srgbClr val="E8EFF8"/>
                </a:solidFill>
                <a:latin typeface="Source Han Sans SC"/>
                <a:ea typeface="Source Han Sans SC"/>
              </a:rPr>
              <a:t>第一季度项目沟通会</a:t>
            </a:r>
            <a:r>
              <a:rPr lang="en-US" sz="1800">
                <a:solidFill>
                  <a:srgbClr val="E8EFF8"/>
                </a:solidFill>
                <a:latin typeface="Source Han Sans SC"/>
                <a:ea typeface="Source Han Sans SC"/>
              </a:rPr>
              <a:t> · </a:t>
            </a:r>
            <a:r>
              <a:rPr lang="zh-CN" sz="1800">
                <a:solidFill>
                  <a:srgbClr val="E8EFF8"/>
                </a:solidFill>
                <a:latin typeface="Source Han Sans SC"/>
                <a:ea typeface="Source Han Sans SC"/>
              </a:rPr>
              <a:t>汇报材料</a:t>
            </a:r>
            <a:r>
              <a:rPr lang="en-US" sz="1800">
                <a:solidFill>
                  <a:srgbClr val="E8EFF8"/>
                </a:solidFill>
                <a:latin typeface="Source Han Sans SC"/>
                <a:ea typeface="Source Han Sans SC"/>
              </a:rPr>
              <a:t> v1.0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55245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Source Han Sans SC"/>
                <a:ea typeface="Source Han Sans SC"/>
              </a:rPr>
              <a:t>项目负责人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38200" y="5743575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聂权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统计学院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790825" y="5524500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Source Han Sans SC"/>
                <a:ea typeface="Source Han Sans SC"/>
              </a:rPr>
              <a:t>项目周期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790825" y="5743575"/>
            <a:ext cx="1533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2026.06 — 2027.05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857750" y="552450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FB4E0"/>
                </a:solidFill>
                <a:latin typeface="Source Han Sans SC"/>
                <a:ea typeface="Source Han Sans SC"/>
              </a:rPr>
              <a:t>汇报时间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857750" y="5743575"/>
            <a:ext cx="1009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2026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年</a:t>
            </a:r>
            <a:r>
              <a:rPr lang="en-US" sz="1500" b="1">
                <a:solidFill>
                  <a:srgbClr val="FFFFFF"/>
                </a:solidFill>
                <a:latin typeface="Source Han Sans SC"/>
                <a:ea typeface="Source Han Sans SC"/>
              </a:rPr>
              <a:t> 9 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目录&lt;/Text&gt;&#10;        &lt;Text style={{ fontSize: 14, color: '#BFD3EE' }}&gt;HeteroNexus · 2026 Q1&lt;/Text&gt;&#10;    &lt;/Box&gt;&#10;&#10;    &lt;Box style={{ height: 588, padding: '20px 40px 12px 40px', flexDirection: 'row', gap: 48 }}&gt;&#10;        {/* 左栏：标题区 */}&#10;        &lt;Box style={{ width: 300, flexDirection: 'column', justifyContent: 'center', paddingBottom: 40 }}&gt;&#10;            &lt;Text style={{ fontSize: 96, fontWeight: 'bold', color: '#1E4FA8', lineHeight: 1.0, marginBottom: 10 }}&gt;05&lt;/Text&gt;&#10;            &lt;Text style={{ fontSize: 26, fontWeight: 'bold', color: '#1A2230', marginBottom: 14 }}&gt;五个部分&lt;/Text&gt;&#10;            &lt;Box style={{ width: 64, height: 4, background: '#FFC107', marginBottom: 18 }} /&gt;&#10;            &lt;Text style={{ fontSize: 22, color: '#4A5568', lineHeight: 1.55 }}&gt;&#10;                从问题定义到计划调整，&#10;                &lt;br /&gt;&#10;                每个部分都以「可验证的证据」&#10;                &lt;br /&gt;&#10;                收口，而非停留在主张。&#10;            &lt;/Text&gt;&#10;        &lt;/Box&gt;&#10;&#10;        {/* 右栏：五条目 */}&#10;        &lt;Box style={{ flex: 1, flexDirection: 'column', justifyContent: 'space-between', paddingBottom: 4 }}&gt;&#10;            &lt;Box style={{ flexDirection: 'row', alignItems: 'center', gap: 22, background: '#F0F5FC', borderRadius: 6, padding: '16px 22px' }}&gt;&#10;                &lt;Box style={{ width: 48, height: 48, background: '#1E4FA8', borderRadius: 4, alignItems: 'center', justifyContent: 'center' }}&gt;&#10;                    &lt;Text style={{ fontSize: 24, fontWeight: 'bold', color: '#FFFFFF' }}&gt;01&lt;/Text&gt;&#10;                &lt;/Box&gt;&#10;                &lt;Box style={{ flexDirection: 'column', gap: 5 }}&gt;&#10;                    &lt;Text style={{ fontSize: 26, fontWeight: 'bold', color: '#0E3F8C' }}&gt;立项背景与产品定位&lt;/Text&gt;&#10;                    &lt;Text style={{ fontSize: 20, color: '#4A5568' }}&gt;算力利用率的行业缺口，与现有方案的三个失效点&lt;/Text&gt;&#10;                &lt;/Box&gt;&#10;            &lt;/Box&gt;&#10;&#10;            &lt;Box style={{ flexDirection: 'row', alignItems: 'center', gap: 22, background: '#F7F9FC', borderRadius: 6, padding: '16px 22px' }}&gt;&#10;                &lt;Box style={{ width: 48, height: 48, background: '#1E4FA8', borderRadius: 4, alignItems: 'center', justifyContent: 'center' }}&gt;&#10;                    &lt;Text style={{ fontSize: 24, fontWeight: 'bold', color: '#FFFFFF' }}&gt;02&lt;/Text&gt;&#10;                &lt;/Box&gt;&#10;                &lt;Box style={{ flexDirection: 'column', gap: 5 }}&gt;&#10;                    &lt;Text style={{ fontSize: 26, fontWeight: 'bold', color: '#0E3F8C' }}&gt;第一季度工作进展&lt;/Text&gt;&#10;                    &lt;Text style={{ fontSize: 20, color: '#4A5568' }}&gt;五层架构、仿真引擎、四类基线算法与核心模块&lt;/Text&gt;&#10;                &lt;/Box&gt;&#10;            &lt;/Box&gt;&#10;&#10;            &lt;Box style={{ flexDirection: 'row', alignItems: 'center', gap: 22, background: '#F7F9FC', borderRadius: 6, padding: '16px 22px' }}&gt;&#10;                &lt;Box style={{ width: 48, height: 48, background: '#1E4FA8', borderRadius: 4, alignItems: 'center', justifyContent: 'center' }}&gt;&#10;                    &lt;Text style={{ fontSize: 24, fontWeight: 'bold', color: '#FFFFFF' }}&gt;03&lt;/Text&gt;&#10;                &lt;/Box&gt;&#10;                &lt;Box style={{ flexDirection: 'column', gap: 5 }}&gt;&#10;                    &lt;Text style={{ fontSize: 26, fontWeight: 'bold', color: '#0E3F8C' }}&gt;实验证据与关键结论&lt;/Text&gt;&#10;                    &lt;Text style={{ fontSize: 20, color: '#4A5568' }}&gt;200 任务基线实验，与 36 组奖励权重扫描的帕累托结论&lt;/Text&gt;&#10;                &lt;/Box&gt;&#10;            &lt;/Box&gt;&#10;&#10;            &lt;Box style={{ flexDirection: 'row', alignItems: 'center', gap: 22, background: '#F7F9FC', borderRadius: 6, padding: '16px 22px' }}&gt;&#10;                &lt;Box style={{ width: 48, height: 48, background: '#1E4FA8', borderRadius: 4, alignItems: 'center', justifyContent: 'center' }}&gt;&#10;                    &lt;Text style={{ fontSize: 24, fontWeight: 'bold', color: '#FFFFFF' }}&gt;04&lt;/Text&gt;&#10;                &lt;/Box&gt;&#10;                &lt;Box style={{ flexDirection: 'column', gap: 5 }}&gt;&#10;                    &lt;Text style={{ fontSize: 26, fontWeight: 'bold', color: '#0E3F8C' }}&gt;风险识别与年度规划调整&lt;/Text&gt;&#10;                    &lt;Text style={{ fontSize: 20, color: '#4A5568' }}&gt;四项主要风险，及拟调整的季度交付节奏&lt;/Text&gt;&#10;                &lt;/Box&gt;&#10;            &lt;/Box&gt;&#10;&#10;            &lt;Box style={{ flexDirection: 'row', alignItems: 'center', gap: 22, background: '#F7F9FC', borderRadius: 6, padding: '16px 22px' }}&gt;&#10;                &lt;Box style={{ width: 48, height: 48, background: '#1E4FA8', borderRadius: 4, alignItems: 'center', justifyContent: 'center' }}&gt;&#10;                    &lt;Text style={{ fontSize: 24, fontWeight: 'bold', color: '#FFFFFF' }}&gt;05&lt;/Text&gt;&#10;                &lt;/Box&gt;&#10;                &lt;Box style={{ flexDirection: 'column', gap: 5 }}&gt;&#10;                    &lt;Text style={{ fontSize: 26, fontWeight: 'bold', color: '#0E3F8C' }}&gt;下一阶段计划与支持事项&lt;/Text&gt;&#10;                    &lt;Text style={{ fontSize: 20, color: '#4A5568' }}&gt;第二季度四项交付，以及需要老师协调的四项资源&lt;/Text&gt;&#10;                &lt;/Box&gt;&#10;            &lt;/Box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81000" y="1628775"/>
            <a:ext cx="2857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1E4FA8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81000" y="2828925"/>
            <a:ext cx="2857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Source Han Sans SC"/>
                <a:ea typeface="Source Han Sans SC"/>
              </a:rPr>
              <a:t>五个部分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81000" y="3267075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3476625"/>
            <a:ext cx="2857500" cy="1562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从问题定义到计划调整，</a:t>
            </a:r>
            <a:endParaRPr/>
          </a:p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每个部分都以「可验证的证据」</a:t>
            </a:r>
            <a:endParaRPr/>
          </a:p>
          <a:p>
            <a:pPr>
              <a:lnSpc>
                <a:spcPct val="155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收口，而非停留在主张。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3695700" y="876300"/>
            <a:ext cx="8115300" cy="885825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3905250" y="109537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010025" y="1190625"/>
            <a:ext cx="24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572000" y="1028700"/>
            <a:ext cx="419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立项背景与产品定位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572000" y="1381125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算力利用率的行业缺口，与现有方案的三个失效点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3695700" y="1971675"/>
            <a:ext cx="8115300" cy="885825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3905250" y="2190750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010025" y="2286000"/>
            <a:ext cx="24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572000" y="2124075"/>
            <a:ext cx="400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572000" y="24765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五层架构、仿真引擎、四类基线算法与核心模块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3695700" y="3067050"/>
            <a:ext cx="8115300" cy="885825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6" name=""/>
          <p:cNvSpPr/>
          <p:nvPr/>
        </p:nvSpPr>
        <p:spPr>
          <a:xfrm rot="0" flipH="0" flipV="0">
            <a:off x="3905250" y="32861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4010025" y="3381375"/>
            <a:ext cx="24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572000" y="3219450"/>
            <a:ext cx="4629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实验证据与关键结论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572000" y="3571875"/>
            <a:ext cx="4629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200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任务基线实验，与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36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组奖励权重扫描的帕累托结论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3695700" y="4152900"/>
            <a:ext cx="8115300" cy="885825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3905250" y="437197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010025" y="4467225"/>
            <a:ext cx="24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572000" y="4305300"/>
            <a:ext cx="3429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风险识别与年度规划调整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4572000" y="4657725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四项主要风险，及拟调整的季度交付节奏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3695700" y="5248275"/>
            <a:ext cx="8115300" cy="885825"/>
          </a:xfrm>
          <a:prstGeom prst="roundRect">
            <a:avLst>
              <a:gd name="adj" fmla="val 6452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3905250" y="5467350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010025" y="5562600"/>
            <a:ext cx="247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572000" y="5400675"/>
            <a:ext cx="419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下一阶段计划与支持事项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572000" y="5753100"/>
            <a:ext cx="419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第二季度四项交付，以及需要老师协调的四项资源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92" name="" descr="&lt;Slide style={{ width: 1280, height: 720, padding: 0, position: 'relative', background: 'linear-gradient(135deg, #0E3F8C 0%, #1E4FA8 100%)', fontFamily: '&quot;Source Han Sans SC&quot;,&quot;Noto Sans SC&quot;,&quot;Microsoft YaHei&quot;,sans-serif' }}&gt;&#10;    &lt;Box style={{ position: 'absolute', top: 0, left: 0, width: 1280, height: 720, opacity: 0.10 }}&gt;&#10;        &lt;svg width={1280} height={720} viewBox='0 0 1280 720'&gt;&#10;            &lt;g stroke='#FFFFFF' strokeWidth='1.5' fill='none'&gt;&#10;                &lt;path d='M0 620 L320 470 L640 540 L980 400 L1280 480' /&gt;&#10;                &lt;path d='M0 520 L320 370 L640 440 L980 300 L1280 380' /&gt;&#10;                &lt;path d='M0 420 L320 270 L640 340 L980 200 L1280 280' /&gt;&#10;            &lt;/g&gt;&#10;        &lt;/svg&gt;&#10;    &lt;/Box&gt;&#10;&#10;    &lt;Box style={{ position: 'relative', zIndex: 1, width: 1280, height: 720, padding: '0 88px', flexDirection: 'column', justifyContent: 'center' }}&gt;&#10;        &lt;Text style={{ fontSize: 160, fontWeight: 'bold', color: '#FFFFFF', lineHeight: 1.0, opacity: 0.94 }}&gt;01&lt;/Text&gt;&#10;        &lt;Box style={{ width: 140, height: 5, background: '#FFC107', marginBottom: 26, marginTop: 6 }} /&gt;&#10;        &lt;Text style={{ fontSize: 52, fontWeight: 'bold', color: '#FFFFFF', lineHeight: 1.25, marginBottom: 30 }}&gt;&#10;            立项背景与产品定位&#10;        &lt;/Text&gt;&#10;&#10;        &lt;Box style={{ flexDirection: 'row', gap: 18 }}&gt;&#10;            &lt;Box style={{ background: 'rgba(255,255,255,0.12)', borderRadius: 4, padding: '10px 20px' }}&gt;&#10;                &lt;Text style={{ fontSize: 20, color: '#E8EFF8' }}&gt;行业痛点：GPU 平均利用率不足 40%&lt;/Text&gt;&#10;            &lt;/Box&gt;&#10;            &lt;Box style={{ background: 'rgba(255,255,255,0.12)', borderRadius: 4, padding: '10px 20px' }}&gt;&#10;                &lt;Text style={{ fontSize: 20, color: '#E8EFF8' }}&gt;技术缺口：多目标不可兼得&lt;/Text&gt;&#10;            &lt;/Box&gt;&#10;            &lt;Box style={{ background: 'rgba(255,255,255,0.12)', borderRadius: 4, padding: '10px 20px' }}&gt;&#10;                &lt;Text style={{ fontSize: 20, color: '#E8EFF8' }}&gt;产品定位：开源 · 插件化 · 轻量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94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5" name=""/>
          <p:cNvSpPr/>
          <p:nvPr/>
        </p:nvSpPr>
        <p:spPr>
          <a:xfrm rot="0" flipH="0" flipV="0">
            <a:off x="838200" y="3505200"/>
            <a:ext cx="1333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38200" y="3800475"/>
            <a:ext cx="105156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立项背景与产品定位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38200" y="4829175"/>
            <a:ext cx="3495675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28700" y="4924425"/>
            <a:ext cx="3114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行业痛点：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GPU </a:t>
            </a: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平均利用率不足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 40%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505325" y="4829175"/>
            <a:ext cx="266700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695825" y="4924425"/>
            <a:ext cx="2286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技术缺口：多目标不可兼得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343775" y="4829175"/>
            <a:ext cx="321945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7534275" y="4924425"/>
            <a:ext cx="2838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产品定位：开源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 · </a:t>
            </a: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插件化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 · </a:t>
            </a: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轻量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838200" y="1619250"/>
            <a:ext cx="105156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04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1 · 立项背景与产品定位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6 }}&gt;&#10;            高校实验室与中小企业的 GPU 集群，正在被四个结构性问题持续消耗 —— 而且它们互相纠缠。&#10;        &lt;/Text&gt;&#10;&#10;        {/* KPI 三联数 · 视觉锚点 */}&#10;        &lt;Box style={{ flexDirection: 'row', gap: 16, height: 128, marginBottom: 16 }}&gt;&#10;            &lt;Box style={{ flex: 1, background: '#F0F5FC', borderRadius: 6, padding: '16px 24px', flexDirection: 'row', alignItems: 'center', gap: 18 }}&gt;&#10;                &lt;Text style={{ fontSize: 72, fontWeight: 'bold', color: '#1E4FA8', lineHeight: 1.0 }}&gt;&amp;lt;40&lt;/Text&gt;&#10;                &lt;Box style={{ flexDirection: 'column', gap: 4 }}&gt;&#10;                    &lt;Text style={{ fontSize: 22, fontWeight: 'bold', color: '#1A2230' }}&gt;%&lt;/Text&gt;&#10;                    &lt;Text style={{ fontSize: 20, color: '#4A5568', lineHeight: 1.35 }}&gt;高校实验室&#10;                        &lt;br /&gt;&#10;                        GPU 平均利用率&lt;/Text&gt;&#10;                &lt;/Box&gt;&#10;            &lt;/Box&gt;&#10;            &lt;Box style={{ flex: 1, background: '#F0F5FC', borderRadius: 6, padding: '16px 24px', flexDirection: 'row', alignItems: 'center', gap: 18 }}&gt;&#10;                &lt;Text style={{ fontSize: 72, fontWeight: 'bold', color: '#1E4FA8', lineHeight: 1.0 }}&gt;&amp;gt;1000&lt;/Text&gt;&#10;                &lt;Box style={{ flexDirection: 'column', gap: 4 }}&gt;&#10;                    &lt;Text style={{ fontSize: 22, fontWeight: 'bold', color: '#1A2230' }}&gt;亿元&lt;/Text&gt;&#10;                    &lt;Text style={{ fontSize: 20, color: '#4A5568', lineHeight: 1.35 }}&gt;国内 AI 算力服务&#10;                        &lt;br /&gt;&#10;                        市场规模&lt;/Text&gt;&#10;                &lt;/Box&gt;&#10;            &lt;/Box&gt;&#10;            &lt;Box style={{ flex: 1, background: '#F0F5FC', borderRadius: 6, padding: '16px 24px', flexDirection: 'row', alignItems: 'center', gap: 18 }}&gt;&#10;                &lt;Text style={{ fontSize: 72, fontWeight: 'bold', color: '#1E4FA8', lineHeight: 1.0 }}&gt;&amp;gt;30&lt;/Text&gt;&#10;                &lt;Box style={{ flexDirection: 'column', gap: 4 }}&gt;&#10;                    &lt;Text style={{ fontSize: 22, fontWeight: 'bold', color: '#1A2230' }}&gt;% / 年&lt;/Text&gt;&#10;                    &lt;Text style={{ fontSize: 20, color: '#4A5568', lineHeight: 1.35 }}&gt;市场规模&#10;                        &lt;br /&gt;&#10;                        年复合增长率&lt;/Text&gt;&#10;                &lt;/Box&gt;&#10;            &lt;/Box&gt;&#10;        &lt;/Box&gt;&#10;&#10;        {/* 2×2 痛点矩阵 */}&#10;        &lt;Box style={{ flexDirection: 'row', gap: 16, height: 268, marginBottom: 16 }}&gt;&#10;            &lt;Box style={{ flex: 1, background: '#FFFFFF', border: '1px solid #D6DCE5', borderRadius: 6, padding: '16px 20px', flexDirection: 'column' }}&gt;&#10;                &lt;Box style={{ flexDirection: 'row', alignItems: 'center', gap: 10, marginBottom: 10 }}&gt;&#10;                    &lt;Box style={{ width: 28, height: 28, background: '#1E4FA8', borderRadius: 3, alignItems: 'center', justifyContent: 'center' }}&gt;&#10;                        &lt;Text style={{ fontSize: 16, fontWeight: 'bold', color: '#FFFFFF' }}&gt;A&lt;/Text&gt;&#10;                    &lt;/Box&gt;&#10;                    &lt;Text style={{ fontSize: 26, fontWeight: 'bold', color: '#0E3F8C' }}&gt;队列阻塞&lt;/Text&gt;&#10;                &lt;/Box&gt;&#10;                &lt;Text style={{ fontSize: 20, color: '#4A5568', lineHeight: 1.55 }}&gt;&#10;                    调度以静态分配为主，大任务长期占用加速卡，小任务等待时间过长。缺乏优先级与抢占机制，&#10;                    导致集群&quot;看起来满负荷、实际大量时间在排队&quot;。&#10;                &lt;/Text&gt;&#10;            &lt;/Box&gt;&#10;&#10;            &lt;Box style={{ flex: 1, background: '#FFFFFF', border: '1px solid #D6DCE5', borderRadius: 6, padding: '16px 20px', flexDirection: 'column' }}&gt;&#10;                &lt;Box style={{ flexDirection: 'row', alignItems: 'center', gap: 10, marginBottom: 10 }}&gt;&#10;                    &lt;Box style={{ width: 28, height: 28, background: '#1E4FA8', borderRadius: 3, alignItems: 'center', justifyContent: 'center' }}&gt;&#10;                        &lt;Text style={{ fontSize: 16, fontWeight: 'bold', color: '#FFFFFF' }}&gt;B&lt;/Text&gt;&#10;                    &lt;/Box&gt;&#10;                    &lt;Text style={{ fontSize: 26, fontWeight: 'bold', color: '#0E3F8C' }}&gt;资源失衡&lt;/Text&gt;&#10;                &lt;/Box&gt;&#10;                &lt;Text style={{ fontSize: 20, color: '#4A5568', lineHeight: 1.55 }}&gt;&#10;                    训练任务通常把 GPU 打满而 CPU 大量闲置，数据预处理任务则恰好相反。&#10;                    CPU 与 GPU 分属不同节点池、各自独立调度，异构资源之间无法互补。&#10;                &lt;/Text&gt;&#10;            &lt;/Box&gt;&#10;&#10;            &lt;Box style={{ flex: 1, background: '#FFFFFF', border: '1px solid #D6DCE5', borderRadius: 6, padding: '16px 20px', flexDirection: 'column' }}&gt;&#10;                &lt;Box style={{ flexDirection: 'row', alignItems: 'center', gap: 10, marginBottom: 10 }}&gt;&#10;                    &lt;Box style={{ width: 28, height: 28, background: '#1E4FA8', borderRadius: 3, alignItems: 'center', justifyContent: 'center' }}&gt;&#10;                        &lt;Text style={{ fontSize: 16, fontWeight: 'bold', color: '#FFFFFF' }}&gt;C&lt;/Text&gt;&#10;                    &lt;/Box&gt;&#10;                    &lt;Text style={{ fontSize: 26, fontWeight: 'bold', color: '#0E3F8C' }}&gt;管理割裂&lt;/Text&gt;&#10;                &lt;/Box&gt;&#10;                &lt;Text style={{ fontSize: 20, color: '#4A5568', lineHeight: 1.55 }}&gt;&#10;                    CPU、GPU、FPGA 等不同架构硬件需要分别管理，缺乏统一的资源抽象层与调度接口。&#10;                    运维人员被迫维护多套配置，扩展一种新硬件就要改动整套流程。&#10;                &lt;/Text&gt;&#10;            &lt;/Box&gt;&#10;&#10;            &lt;Box style={{ flex: 1, background: '#FFFFFF', border: '1px solid #D6DCE5', borderRadius: 6, padding: '16px 20px', flexDirection: 'column' }}&gt;&#10;                &lt;Box style={{ flexDirection: 'row', alignItems: 'center', gap: 10, marginBottom: 10 }}&gt;&#10;                    &lt;Box style={{ width: 28, height: 28, background: '#1E4FA8', borderRadius: 3, alignItems: 'center', justifyContent: 'center' }}&gt;&#10;                        &lt;Text style={{ fontSize: 16, fontWeight: 'bold', color: '#FFFFFF' }}&gt;D&lt;/Text&gt;&#10;                    &lt;/Box&gt;&#10;                    &lt;Text style={{ fontSize: 26, fontWeight: 'bold', color: '#0E3F8C' }}&gt;优化单一&lt;/Text&gt;&#10;                &lt;/Box&gt;&#10;                &lt;Text style={{ fontSize: 20, color: '#4A5568', lineHeight: 1.55 }}&gt;&#10;                    现有方案以启发式规则为主，&quot;降低完成时间&quot;与&quot;提高利用率&quot;往往此消彼长。&#10;                    缺少能同时权衡延迟、吞吐、能耗与公平性的多目标决策手段。&#10;                &lt;/Text&gt;&#10;            &lt;/Box&gt;&#10;        &lt;/Box&gt;&#10;&#10;        {/* 底部结论条 */}&#10;        &lt;Box style={{ height: 58, background: '#E8EFF8', borderLeft: '4px solid #FFC107', borderRadius: 4, padding: '0 22px', flexDirection: 'row', alignItems: 'center', marginTop: 'auto' }}&gt;&#10;            &lt;Text style={{ fontSize: 21, color: '#1A2230', lineHeight: 1.4 }}&gt;&#10;                真正的技术缺口不在「能不能调度」，而在&#10;                &lt;span style={{ fontWeight: 'bold', color: '#0E3F8C' }}&gt;「多目标不可兼得」&lt;/span&gt;&#10;                —— 这是本项目一切技术选择的出发点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01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立项背景与产品定位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高校实验室与中小企业的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集群，正在被四个结构性问题持续消耗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而且它们互相纠缠。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81000" y="1285875"/>
            <a:ext cx="3705225" cy="1219200"/>
          </a:xfrm>
          <a:prstGeom prst="roundRect">
            <a:avLst>
              <a:gd name="adj" fmla="val 468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9600" y="1485900"/>
            <a:ext cx="10763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&lt;40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857375" y="1438275"/>
            <a:ext cx="1371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%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857375" y="1733550"/>
            <a:ext cx="1371600" cy="619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高校实验室</a:t>
            </a:r>
            <a:endParaRPr/>
          </a:p>
          <a:p>
            <a:pPr>
              <a:lnSpc>
                <a:spcPct val="135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平均利用率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4238625" y="1285875"/>
            <a:ext cx="3714750" cy="1219200"/>
          </a:xfrm>
          <a:prstGeom prst="roundRect">
            <a:avLst>
              <a:gd name="adj" fmla="val 468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467225" y="1485900"/>
            <a:ext cx="17335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&gt;1000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372225" y="1438275"/>
            <a:ext cx="1352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亿元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372225" y="1733550"/>
            <a:ext cx="13525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国内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AI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算力服务</a:t>
            </a:r>
            <a:endParaRPr/>
          </a:p>
          <a:p>
            <a:pPr>
              <a:lnSpc>
                <a:spcPct val="13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市场规模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8105775" y="1285875"/>
            <a:ext cx="3705225" cy="1219200"/>
          </a:xfrm>
          <a:prstGeom prst="roundRect">
            <a:avLst>
              <a:gd name="adj" fmla="val 468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8334375" y="1485900"/>
            <a:ext cx="10763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&gt;30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582150" y="1438275"/>
            <a:ext cx="1143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% / 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年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582150" y="1733550"/>
            <a:ext cx="1143000" cy="619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市场规模</a:t>
            </a:r>
            <a:endParaRPr/>
          </a:p>
          <a:p>
            <a:pPr>
              <a:lnSpc>
                <a:spcPct val="13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年复合增长率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2657475"/>
            <a:ext cx="2743200" cy="283845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571500" y="2828925"/>
            <a:ext cx="266700" cy="266700"/>
          </a:xfrm>
          <a:prstGeom prst="roundRect">
            <a:avLst>
              <a:gd name="adj" fmla="val 1071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57225" y="2867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A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33450" y="28098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队列阻塞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2362200" cy="2133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调度以静态分配为主，大任务长期占用加速卡，小任务等待时间过长。缺乏优先级与抢占机制，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导致集群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看起来满负荷、实际大量时间在排队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276600" y="2657475"/>
            <a:ext cx="2743200" cy="283845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3467100" y="2828925"/>
            <a:ext cx="266700" cy="266700"/>
          </a:xfrm>
          <a:prstGeom prst="roundRect">
            <a:avLst>
              <a:gd name="adj" fmla="val 1071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3552825" y="2867025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B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29050" y="28098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资源失衡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467100" y="3209925"/>
            <a:ext cx="2362200" cy="2133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训练任务通常把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打满而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大量闲置，数据预处理任务则恰好相反。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分属不同节点池、各自独立调度，异构资源之间无法互补。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172200" y="2657475"/>
            <a:ext cx="2743200" cy="283845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362700" y="2828925"/>
            <a:ext cx="266700" cy="266700"/>
          </a:xfrm>
          <a:prstGeom prst="roundRect">
            <a:avLst>
              <a:gd name="adj" fmla="val 1071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448425" y="28670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C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724650" y="28098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管理割裂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362700" y="3209925"/>
            <a:ext cx="2362200" cy="2133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CPU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GPU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、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FPGA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等不同架构硬件需要分别管理，缺乏统一的资源抽象层与调度接口。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运维人员被迫维护多套配置，扩展一种新硬件就要改动整套流程。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9067800" y="2657475"/>
            <a:ext cx="2743200" cy="283845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9258300" y="2828925"/>
            <a:ext cx="266700" cy="266700"/>
          </a:xfrm>
          <a:prstGeom prst="roundRect">
            <a:avLst>
              <a:gd name="adj" fmla="val 1071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344025" y="2867025"/>
            <a:ext cx="104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D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9620250" y="2809875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优化单一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9258300" y="3209925"/>
            <a:ext cx="2362200" cy="2133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现有方案以启发式规则为主，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降低完成时间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提高利用率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往往此消彼长。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缺少能同时权衡延迟、吞吐、能耗与公平性的多目标决策手段。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19100" y="5619750"/>
            <a:ext cx="11430000" cy="552450"/>
          </a:xfrm>
          <a:prstGeom prst="roundRect">
            <a:avLst>
              <a:gd name="adj" fmla="val 689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419100" y="5619750"/>
            <a:ext cx="11430000" cy="552450"/>
          </a:xfrm>
          <a:custGeom>
            <a:pathLst>
              <a:path w="1200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28650" y="5724525"/>
            <a:ext cx="91821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真正的技术缺口不在「能不能调度」，而在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「多目标不可兼得」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——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这是本项目一切技术选择的出发点。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47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1 · 立项背景与产品定位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4 }}&gt;&#10;            我们系统比对了 6 类主流方案 —— 结论是：&lt;span style={{ fontWeight: 'bold', color: '#0E3F8C' }}&gt;它们各自成立，但都不覆盖「轻量 + 开源 + 智能」的交集&lt;/span&gt;。&#10;        &lt;/Text&gt;&#10;&#10;        {/* 表头 */}&#10;        &lt;Box style={{ flexDirection: 'row', background: '#0E3F8C', borderTopLeftRadius: 4, borderTopRightRadius: 4, height: 52, alignItems: 'center' }}&gt;&#10;            &lt;Text style={{ width: 250, paddingLeft: 20, fontSize: 20, fontWeight: 'bold', color: '#FFFFFF' }}&gt;方案&lt;/Text&gt;&#10;            &lt;Text style={{ width: 150, fontSize: 20, fontWeight: 'bold', color: '#FFFFFF' }}&gt;类型&lt;/Text&gt;&#10;            &lt;Text style={{ flex: 1, fontSize: 20, fontWeight: 'bold', color: '#FFFFFF' }}&gt;主要局限&lt;/Text&gt;&#10;            &lt;Text style={{ flex: 1, fontSize: 20, fontWeight: 'bold', color: '#FFFFFF' }}&gt;本项目的差异&lt;/Text&gt;&#10;        &lt;/Box&gt;&#10;&#10;        &lt;Box style={{ flexDirection: 'row', height: 56, alignItems: 'center', background: '#FFFFFF', border: '1px solid #E5E7EB', borderTop: 'none' }}&gt;&#10;            &lt;Text style={{ width: 250, paddingLeft: 20, fontSize: 20, color: '#1A2230', fontWeight: 'bold' }}&gt;Kubeflow&lt;/Text&gt;&#10;            &lt;Text style={{ width: 150, fontSize: 20, color: '#4A5568' }}&gt;开源平台&lt;/Text&gt;&#10;            &lt;Text style={{ flex: 1, fontSize: 20, color: '#4A5568' }}&gt;功能偏重、部署复杂，静态分配为主&lt;/Text&gt;&#10;            &lt;Text style={{ flex: 1, fontSize: 20, color: '#1E4FA8' }}&gt;更轻量，聚焦调度智能层&lt;/Text&gt;&#10;        &lt;/Box&gt;&#10;&#10;        &lt;Box style={{ flexDirection: 'row', height: 56, alignItems: 'center', background: '#F7F9FC', border: '1px solid #E5E7EB', borderTop: 'none' }}&gt;&#10;            &lt;Text style={{ width: 250, paddingLeft: 20, fontSize: 20, color: '#1A2230', fontWeight: 'bold' }}&gt;NVIDIA GPU Operator&lt;/Text&gt;&#10;            &lt;Text style={{ width: 150, fontSize: 20, color: '#4A5568' }}&gt;商业工具&lt;/Text&gt;&#10;            &lt;Text style={{ flex: 1, fontSize: 20, color: '#4A5568' }}&gt;仅支持自家硬件，跨架构能力弱且闭源&lt;/Text&gt;&#10;            &lt;Text style={{ flex: 1, fontSize: 20, color: '#1E4FA8' }}&gt;开源，支持异构混合&lt;/Text&gt;&#10;        &lt;/Box&gt;&#10;&#10;        &lt;Box style={{ flexDirection: 'row', height: 56, alignItems: 'center', background: '#FFFFFF', border: '1px solid #E5E7EB', borderTop: 'none' }}&gt;&#10;            &lt;Text style={{ width: 250, paddingLeft: 20, fontSize: 20, color: '#1A2230', fontWeight: 'bold' }}&gt;Volcano&lt;/Text&gt;&#10;            &lt;Text style={{ width: 150, fontSize: 20, color: '#4A5568' }}&gt;开源调度器&lt;/Text&gt;&#10;            &lt;Text style={{ flex: 1, fontSize: 20, color: '#4A5568' }}&gt;Gang 调度成熟，但算法以启发式为主&lt;/Text&gt;&#10;            &lt;Text style={{ flex: 1, fontSize: 20, color: '#1E4FA8' }}&gt;在其之上增加智能决策层&lt;/Text&gt;&#10;        &lt;/Box&gt;&#10;&#10;        &lt;Box style={{ flexDirection: 'row', height: 56, alignItems: 'center', background: '#F7F9FC', border: '1px solid #E5E7EB', borderTop: 'none' }}&gt;&#10;            &lt;Text style={{ width: 250, paddingLeft: 20, fontSize: 20, color: '#1A2230', fontWeight: 'bold' }}&gt;Kueue&lt;/Text&gt;&#10;            &lt;Text style={{ width: 150, fontSize: 20, color: '#4A5568' }}&gt;开源队列&lt;/Text&gt;&#10;            &lt;Text style={{ flex: 1, fontSize: 20, color: '#4A5568' }}&gt;只做队列准入，不做智能放置决策&lt;/Text&gt;&#10;            &lt;Text style={{ flex: 1, fontSize: 20, color: '#1E4FA8' }}&gt;聚焦放置与多目标权衡&lt;/Text&gt;&#10;        &lt;/Box&gt;&#10;&#10;        &lt;Box style={{ flexDirection: 'row', height: 56, alignItems: 'center', background: '#FFFFFF', border: '1px solid #E5E7EB', borderTop: 'none' }}&gt;&#10;            &lt;Text style={{ width: 250, paddingLeft: 20, fontSize: 20, color: '#1A2230', fontWeight: 'bold' }}&gt;阿里云 ACK&lt;/Text&gt;&#10;            &lt;Text style={{ width: 150, fontSize: 20, color: '#4A5568' }}&gt;商业云服务&lt;/Text&gt;&#10;            &lt;Text style={{ flex: 1, fontSize: 20, color: '#4A5568' }}&gt;闭源，定制成本高，绑定云厂商&lt;/Text&gt;&#10;            &lt;Text style={{ flex: 1, fontSize: 20, color: '#1E4FA8' }}&gt;开源，可私有化部署&lt;/Text&gt;&#10;        &lt;/Box&gt;&#10;&#10;        &lt;Box style={{ flexDirection: 'row', height: 56, alignItems: 'center', background: '#F7F9FC', border: '1px solid #E5E7EB', borderTop: 'none', borderBottomLeftRadius: 4, borderBottomRightRadius: 4 }}&gt;&#10;            &lt;Text style={{ width: 250, paddingLeft: 20, fontSize: 20, color: '#1A2230', fontWeight: 'bold' }}&gt;自建脚本调度&lt;/Text&gt;&#10;            &lt;Text style={{ width: 150, fontSize: 20, color: '#4A5568' }}&gt;自研方案&lt;/Text&gt;&#10;            &lt;Text style={{ flex: 1, fontSize: 20, color: '#4A5568' }}&gt;灵活零成本，但功能简陋、维护成本高&lt;/Text&gt;&#10;            &lt;Text style={{ flex: 1, fontSize: 20, color: '#1E4FA8' }}&gt;提供标准化、算法驱动的方案&lt;/Text&gt;&#10;        &lt;/Box&gt;&#10;&#10;        &lt;Box style={{ height: 58, background: '#E8EFF8', borderLeft: '4px solid #1E4FA8', borderRadius: 4, padding: '0 22px', flexDirection: 'row', alignItems: 'center', marginTop: 'auto' }}&gt;&#10;            &lt;Text style={{ fontSize: 21, color: '#1A2230', lineHeight: 1.4 }}&gt;&#10;                定位：&lt;span style={{ fontWeight: 'bold', color: '#0E3F8C' }}&gt;开源、插件化、多目标优化的异构算力智能调度平台&lt;/span&gt;&#10;                —— 不重写调度器，只在 K8s 调度框架上补一个&quot;会学习的决策层&quot;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01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立项背景与产品定位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我们系统比对了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6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类主流方案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结论是：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它们各自成立，但都不覆盖「轻量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+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开源</a:t>
            </a:r>
            <a:r>
              <a:rPr lang="en-US" sz="1650" b="1">
                <a:solidFill>
                  <a:srgbClr val="0E3F8C"/>
                </a:solidFill>
                <a:latin typeface="Source Han Sans SC"/>
                <a:ea typeface="Source Han Sans SC"/>
              </a:rPr>
              <a:t> + 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智能」的交集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381000" y="1266825"/>
            <a:ext cx="11430000" cy="495300"/>
          </a:xfrm>
          <a:custGeom>
            <a:pathLst>
              <a:path w="1200" h="52">
                <a:moveTo>
                  <a:pt x="4" y="0"/>
                </a:moveTo>
                <a:lnTo>
                  <a:pt x="1196" y="0"/>
                </a:lnTo>
                <a:cubicBezTo>
                  <a:pt x="1198" y="0"/>
                  <a:pt x="1200" y="2"/>
                  <a:pt x="1200" y="4"/>
                </a:cubicBezTo>
                <a:lnTo>
                  <a:pt x="1200" y="52"/>
                </a:lnTo>
                <a:lnTo>
                  <a:pt x="1200" y="52"/>
                </a:lnTo>
                <a:lnTo>
                  <a:pt x="0" y="52"/>
                </a:lnTo>
                <a:lnTo>
                  <a:pt x="0" y="5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81000" y="140017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方案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762250" y="140017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类型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191000" y="14001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主要局限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001000" y="14001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本项目的差异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381000" y="1762125"/>
            <a:ext cx="11430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19145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Kubeflow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762250" y="19145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开源平台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4191000" y="19145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功能偏重、部署复杂，静态分配为主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001000" y="19145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更轻量，聚焦调度智能层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381000" y="2295525"/>
            <a:ext cx="11430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381000" y="24479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NVIDIA GPU Operator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2762250" y="24479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商业工具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4191000" y="24479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仅支持自家硬件，跨架构能力弱且闭源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001000" y="24479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开源，支持异构混合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381000" y="2828925"/>
            <a:ext cx="11430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81000" y="29813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Volcano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2762250" y="29813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开源调度器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191000" y="29813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Gang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调度成熟，但算法以启发式为主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001000" y="29813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在其之上增加智能决策层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381000" y="3362325"/>
            <a:ext cx="11430000" cy="53340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381000" y="35147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Kueue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2762250" y="35147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开源队列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191000" y="35147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只做队列准入，不做智能放置决策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001000" y="35147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聚焦放置与多目标权衡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381000" y="3895725"/>
            <a:ext cx="11430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81000" y="40481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阿里云</a:t>
            </a: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 ACK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762250" y="40481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商业云服务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191000" y="4048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闭源，定制成本高，绑定云厂商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001000" y="40481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开源，可私有化部署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381000" y="4429125"/>
            <a:ext cx="11430000" cy="533400"/>
          </a:xfrm>
          <a:custGeom>
            <a:pathLst>
              <a:path w="1200" h="56">
                <a:moveTo>
                  <a:pt x="0" y="0"/>
                </a:moveTo>
                <a:lnTo>
                  <a:pt x="1200" y="0"/>
                </a:lnTo>
                <a:lnTo>
                  <a:pt x="1200" y="0"/>
                </a:lnTo>
                <a:lnTo>
                  <a:pt x="1200" y="52"/>
                </a:lnTo>
                <a:cubicBezTo>
                  <a:pt x="1200" y="54"/>
                  <a:pt x="1198" y="56"/>
                  <a:pt x="1196" y="56"/>
                </a:cubicBezTo>
                <a:lnTo>
                  <a:pt x="4" y="56"/>
                </a:lnTo>
                <a:cubicBezTo>
                  <a:pt x="2" y="56"/>
                  <a:pt x="0" y="54"/>
                  <a:pt x="0" y="52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81000" y="4581525"/>
            <a:ext cx="2381250" cy="228600"/>
          </a:xfrm>
          <a:prstGeom prst="rect"/>
        </p:spPr>
        <p:txBody>
          <a:bodyPr wrap="none" lIns="142875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Source Han Sans SC"/>
                <a:ea typeface="Source Han Sans SC"/>
              </a:rPr>
              <a:t>自建脚本调度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2762250" y="4581525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自研方案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4191000" y="45815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灵活零成本，但功能简陋、维护成本高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001000" y="45815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E4FA8"/>
                </a:solidFill>
                <a:latin typeface="Source Han Sans SC"/>
                <a:ea typeface="Source Han Sans SC"/>
              </a:rPr>
              <a:t>提供标准化、算法驱动的方案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419100" y="5619750"/>
            <a:ext cx="11430000" cy="552450"/>
          </a:xfrm>
          <a:prstGeom prst="roundRect">
            <a:avLst>
              <a:gd name="adj" fmla="val 689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89" name=""/>
          <p:cNvSpPr/>
          <p:nvPr/>
        </p:nvSpPr>
        <p:spPr>
          <a:xfrm rot="0" flipH="0" flipV="0">
            <a:off x="419100" y="5619750"/>
            <a:ext cx="11430000" cy="552450"/>
          </a:xfrm>
          <a:custGeom>
            <a:pathLst>
              <a:path w="1200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28650" y="5562600"/>
            <a:ext cx="10972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定位：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开源、插件化、多目标优化的异构算力智能调度平台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——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不重写调度器，只在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 K8s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调度框架上补一个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会学习的决策层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93" name="" descr="&lt;Slide style={{ width: 1280, height: 720, padding: 0, position: 'relative', background: 'linear-gradient(135deg, #0E3F8C 0%, #1E4FA8 100%)', fontFamily: '&quot;Source Han Sans SC&quot;,&quot;Noto Sans SC&quot;,&quot;Microsoft YaHei&quot;,sans-serif' }}&gt;&#10;    &lt;Box style={{ position: 'absolute', top: 0, left: 0, width: 1280, height: 720, opacity: 0.10 }}&gt;&#10;        &lt;svg width={1280} height={720} viewBox='0 0 1280 720'&gt;&#10;            &lt;g stroke='#FFFFFF' strokeWidth='1.5' fill='none'&gt;&#10;                &lt;path d='M120 200 L400 130 L700 260 L1010 160 L1230 250' /&gt;&#10;                &lt;path d='M120 360 L400 290 L700 420 L1010 320 L1230 410' /&gt;&#10;                &lt;path d='M120 520 L400 450 L700 580 L1010 480 L1230 570' /&gt;&#10;                &lt;path d='M400 130 L400 450' /&gt;&#10;                &lt;path d='M1010 160 L1010 480' /&gt;&#10;            &lt;/g&gt;&#10;        &lt;/svg&gt;&#10;    &lt;/Box&gt;&#10;&#10;    &lt;Box style={{ position: 'relative', zIndex: 1, width: 1280, height: 720, padding: '0 88px', flexDirection: 'column', justifyContent: 'center' }}&gt;&#10;        &lt;Text style={{ fontSize: 160, fontWeight: 'bold', color: '#FFFFFF', lineHeight: 1.0, opacity: 0.94 }}&gt;02&lt;/Text&gt;&#10;        &lt;Box style={{ width: 140, height: 5, background: '#FFC107', marginBottom: 26, marginTop: 6 }} /&gt;&#10;        &lt;Text style={{ fontSize: 52, fontWeight: 'bold', color: '#FFFFFF', lineHeight: 1.25, marginBottom: 30 }}&gt;&#10;            第一季度工作进展&#10;        &lt;/Text&gt;&#10;&#10;        &lt;Box style={{ flexDirection: 'row', gap: 18 }}&gt;&#10;            &lt;Box style={{ background: 'rgba(255,255,255,0.12)', borderRadius: 4, padding: '10px 20px' }}&gt;&#10;                &lt;Text style={{ fontSize: 20, color: '#E8EFF8' }}&gt;技术架构定稿&lt;/Text&gt;&#10;            &lt;/Box&gt;&#10;            &lt;Box style={{ background: 'rgba(255,255,255,0.12)', borderRadius: 4, padding: '10px 20px' }}&gt;&#10;                &lt;Text style={{ fontSize: 20, color: '#E8EFF8' }}&gt;仿真引擎可用&lt;/Text&gt;&#10;            &lt;/Box&gt;&#10;            &lt;Box style={{ background: 'rgba(255,255,255,0.12)', borderRadius: 4, padding: '10px 20px' }}&gt;&#10;                &lt;Text style={{ fontSize: 20, color: '#E8EFF8' }}&gt;实验数据可复现&lt;/Text&gt;&#10;            &lt;/Box&gt;&#10;            &lt;Box style={{ background: 'rgba(255,255,255,0.12)', borderRadius: 4, padding: '10px 20px' }}&gt;&#10;                &lt;Text style={{ fontSize: 20, color: '#E8EFF8' }}&gt;控制台可现场演示&lt;/Text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6" name=""/>
          <p:cNvSpPr/>
          <p:nvPr/>
        </p:nvSpPr>
        <p:spPr>
          <a:xfrm rot="0" flipH="0" flipV="0">
            <a:off x="838200" y="3505200"/>
            <a:ext cx="1333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8200" y="3800475"/>
            <a:ext cx="105156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838200" y="4829175"/>
            <a:ext cx="152400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28700" y="49244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技术架构定稿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2533650" y="4829175"/>
            <a:ext cx="152400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2724150" y="49244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仿真引擎可用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4229100" y="4829175"/>
            <a:ext cx="171450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4419600" y="49244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实验数据可复现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115050" y="4829175"/>
            <a:ext cx="1905000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305550" y="49244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控制台可现场演示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38200" y="1619250"/>
            <a:ext cx="105156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07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0 }}&gt;&#10;            本季度的产出原则是：&lt;span style={{ fontWeight: 'bold', color: '#0E3F8C' }}&gt;任何结论都必须能被别人一条命令复现&lt;/span&gt;。以下是四个可核验的数字。&#10;        &lt;/Text&gt;&#10;&#10;        {/* KPI 四联数 */}&#10;        &lt;Box style={{ flexDirection: 'row', gap: 14, height: 148, marginBottom: 12 }}&gt;&#10;            &lt;Box style={{ flex: 1, background: '#F0F5FC', borderRadius: 6, padding: '16px 20px', flexDirection: 'column', justifyContent: 'center' }}&gt;&#10;                &lt;Text style={{ fontSize: 72, fontWeight: 'bold', color: '#1E4FA8', lineHeight: 1.0 }}&gt;4&lt;/Text&gt;&#10;                &lt;Text style={{ fontSize: 20, color: '#4A5568', marginTop: 6 }}&gt;类基线调度算法&#10;                    &lt;br /&gt;&#10;                    已完整复现&lt;/Text&gt;&#10;            &lt;/Box&gt;&#10;            &lt;Box style={{ flex: 1, background: '#F0F5FC', borderRadius: 6, padding: '16px 20px', flexDirection: 'column', justifyContent: 'center' }}&gt;&#10;                &lt;Text style={{ fontSize: 72, fontWeight: 'bold', color: '#1E4FA8', lineHeight: 1.0 }}&gt;200&lt;/Text&gt;&#10;                &lt;Text style={{ fontSize: 20, color: '#4A5568', marginTop: 6 }}&gt;个混合任务的&#10;                    &lt;br /&gt;&#10;                    全量对比实验&lt;/Text&gt;&#10;            &lt;/Box&gt;&#10;            &lt;Box style={{ flex: 1, background: '#F0F5FC', borderRadius: 6, padding: '16px 20px', flexDirection: 'column', justifyContent: 'center' }}&gt;&#10;                &lt;Text style={{ fontSize: 72, fontWeight: 'bold', color: '#1E4FA8', lineHeight: 1.0 }}&gt;20&lt;/Text&gt;&#10;                &lt;Text style={{ fontSize: 20, color: '#4A5568', marginTop: 6 }}&gt;维任务特征向量&#10;                    &lt;br /&gt;&#10;                    静态 / 动态 / 预测&lt;/Text&gt;&#10;            &lt;/Box&gt;&#10;            &lt;Box style={{ flex: 1, background: '#FFF8E1', borderRadius: 6, padding: '16px 20px', flexDirection: 'column', justifyContent: 'center' }}&gt;&#10;                &lt;Text style={{ fontSize: 72, fontWeight: 'bold', color: '#B8860B', lineHeight: 1.0 }}&gt;40&lt;/Text&gt;&#10;                &lt;Text style={{ fontSize: 20, color: '#7A6234', marginTop: 6 }}&gt;项单元测试&#10;                    &lt;br /&gt;&#10;                    持续集成流水线通过&lt;/Text&gt;&#10;            &lt;/Box&gt;&#10;        &lt;/Box&gt;&#10;&#10;        {/* 双栏对照卡 */}&#10;        &lt;Box style={{ flexDirection: 'row', gap: 16, height: 288, marginBottom: 12 }}&gt;&#10;            &lt;Box style={{ flex: 1, background: '#FFFFFF', border: '1px solid #D6DCE5', borderTop: '3px solid #1E4FA8', borderRadius: 6, padding: '16px 22px', flexDirection: 'column' }}&gt;&#10;                &lt;Text style={{ fontSize: 26, fontWeight: 'bold', color: '#0E3F8C', marginBottom: 10 }}&gt;已完成 · 可验证产出&lt;/Text&gt;&#10;                &lt;Text style={{ fontSize: 18, color: '#4A5568', lineHeight: 1.5 }}&gt;&#10;                    &lt;span style={{ fontWeight: 'bold', color: '#1E4FA8' }}&gt;① 技术架构定稿&lt;/span&gt;：确定五层解耦架构，&#10;                    K8s 调度插件与 Python 决策服务以 gRPC 解耦，支持启发式安全回退。&#10;                    &lt;br /&gt;&#10;                    &lt;span style={{ fontWeight: 'bold', color: '#1E4FA8' }}&gt;② 仿真引擎&lt;/span&gt;：自研离散事件仿真器，&#10;                    支持自定义异构拓扑与拥塞负载生成，单次 200 任务实验耗时不足 1 秒。&#10;                    &lt;br /&gt;&#10;                    &lt;span style={{ fontWeight: 'bold', color: '#1E4FA8' }}&gt;③ 核心模块&lt;/span&gt;：任务特征提取（20 维）&#10;                    与硬件性能监控（无硬件时自动降级为模拟采集）均已通过测试。&#10;                &lt;/Text&gt;&#10;                &lt;Text style={{ fontSize: 17, color: '#8B97A8', marginTop: 'auto', paddingTop: 10 }}&gt;&#10;                    已开源：github.com/quannie255-star/HeteroNexus&#10;                &lt;/Text&gt;&#10;            &lt;/Box&gt;&#10;&#10;            &lt;Box style={{ flex: 1, background: '#FFFFFF', border: '1px solid #D6DCE5', borderTop: '3px solid #D9534F', borderRadius: 6, padding: '16px 22px', flexDirection: 'column' }}&gt;&#10;                &lt;Text style={{ fontSize: 26, fontWeight: 'bold', color: '#B03A37', marginBottom: 10 }}&gt;未完成 · 主动暴露&lt;/Text&gt;&#10;                &lt;Text style={{ fontSize: 18, color: '#4A5568', lineHeight: 1.5 }}&gt;&#10;                    &lt;span style={{ fontWeight: 'bold', color: '#D9534F' }}&gt;① 真实集群验证尚未开展&lt;/span&gt;：&#10;                    本季度结论全部来自仿真环境，集群验证安排在第三季度。&#10;                    &lt;br /&gt;&#10;                    &lt;span style={{ fontWeight: 'bold', color: '#D9534F' }}&gt;② DRL 策略尚未训练&lt;/span&gt;：&#10;                    当前交付的是奖励驱动的贪心策略原型，PPO 网络待第二季度训练。&#10;                    &lt;br /&gt;&#10;                    &lt;span style={{ fontWeight: 'bold', color: '#D9534F' }}&gt;③ K8s 插件未启动编码&lt;/span&gt;：&#10;                    受 Go 语言经验限制，调整见第四部分。&#10;                &lt;/Text&gt;&#10;                &lt;Text style={{ fontSize: 17, color: '#8B97A8', marginTop: 'auto', paddingTop: 10 }}&gt;&#10;                    我们倾向于先讲清楚边界，再请老师判断调整方向。&#10;                &lt;/Text&gt;&#10;            &lt;/Box&gt;&#10;        &lt;/Box&gt;&#10;&#10;        &lt;Box style={{ height: 48, background: '#E8EFF8', borderLeft: '4px solid #FFC107', borderRadius: 4, padding: '0 20px', flexDirection: 'row', alignItems: 'center', marginTop: 'auto' }}&gt;&#10;            &lt;Text style={{ fontSize: 20, color: '#1A2230' }}&gt;&#10;                一句话概括本季度：&lt;span style={{ fontWeight: 'bold', color: '#0E3F8C' }}&gt;把&quot;能跑、能复现、能演示&quot;的验证底座搭起来了&lt;/span&gt;，而不是先堆文档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07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本季度的产出原则是：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任何结论都必须能被别人一条命令复现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。以下是四个可核验的数字。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381000" y="1228725"/>
            <a:ext cx="2762250" cy="1647825"/>
          </a:xfrm>
          <a:prstGeom prst="roundRect">
            <a:avLst>
              <a:gd name="adj" fmla="val 34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571500" y="1381125"/>
            <a:ext cx="23812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571500" y="2266950"/>
            <a:ext cx="2381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类基线调度算法</a:t>
            </a:r>
            <a:endParaRPr/>
          </a:p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已完整复现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3276600" y="1228725"/>
            <a:ext cx="2752725" cy="1647825"/>
          </a:xfrm>
          <a:prstGeom prst="roundRect">
            <a:avLst>
              <a:gd name="adj" fmla="val 34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467100" y="1381125"/>
            <a:ext cx="23717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200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467100" y="2266950"/>
            <a:ext cx="23717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个混合任务的</a:t>
            </a:r>
            <a:endParaRPr/>
          </a:p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全量对比实验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162675" y="1228725"/>
            <a:ext cx="2762250" cy="1647825"/>
          </a:xfrm>
          <a:prstGeom prst="roundRect">
            <a:avLst>
              <a:gd name="adj" fmla="val 34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353175" y="1381125"/>
            <a:ext cx="23812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1E4FA8"/>
                </a:solidFill>
                <a:latin typeface="Source Han Sans SC"/>
                <a:ea typeface="Source Han Sans SC"/>
              </a:rPr>
              <a:t>20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353175" y="2266950"/>
            <a:ext cx="2381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维任务特征向量</a:t>
            </a:r>
            <a:endParaRPr/>
          </a:p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静态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/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动态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/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预测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9058275" y="1228725"/>
            <a:ext cx="2752725" cy="1647825"/>
          </a:xfrm>
          <a:prstGeom prst="roundRect">
            <a:avLst>
              <a:gd name="adj" fmla="val 3468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248775" y="1381125"/>
            <a:ext cx="23717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B8860B"/>
                </a:solidFill>
                <a:latin typeface="Source Han Sans SC"/>
                <a:ea typeface="Source Han Sans SC"/>
              </a:rPr>
              <a:t>40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9248775" y="2266950"/>
            <a:ext cx="23717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7A6234"/>
                </a:solidFill>
                <a:latin typeface="Source Han Sans SC"/>
                <a:ea typeface="Source Han Sans SC"/>
              </a:rPr>
              <a:t>项单元测试</a:t>
            </a:r>
            <a:endParaRPr/>
          </a:p>
          <a:p>
            <a:pPr>
              <a:lnSpc>
                <a:spcPct val="100000"/>
              </a:lnSpc>
            </a:pPr>
            <a:r>
              <a:rPr lang="zh-CN" sz="1500">
                <a:solidFill>
                  <a:srgbClr val="7A6234"/>
                </a:solidFill>
                <a:latin typeface="Source Han Sans SC"/>
                <a:ea typeface="Source Han Sans SC"/>
              </a:rPr>
              <a:t>持续集成流水线通过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381000" y="2781300"/>
            <a:ext cx="5638800" cy="288607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6" name=""/>
          <p:cNvSpPr/>
          <p:nvPr/>
        </p:nvSpPr>
        <p:spPr>
          <a:xfrm rot="0" flipH="0" flipV="0">
            <a:off x="381000" y="2781300"/>
            <a:ext cx="5638800" cy="2886075"/>
          </a:xfrm>
          <a:custGeom>
            <a:pathLst>
              <a:path w="592" h="303">
                <a:moveTo>
                  <a:pt x="586" y="0"/>
                </a:moveTo>
                <a:cubicBezTo>
                  <a:pt x="589" y="0"/>
                  <a:pt x="592" y="2"/>
                  <a:pt x="592" y="5"/>
                </a:cubicBezTo>
                <a:cubicBezTo>
                  <a:pt x="591" y="4"/>
                  <a:pt x="590" y="3"/>
                  <a:pt x="589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590550" y="2933700"/>
            <a:ext cx="5219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已完成</a:t>
            </a:r>
            <a:r>
              <a:rPr lang="en-US" sz="1950" b="1">
                <a:solidFill>
                  <a:srgbClr val="0E3F8C"/>
                </a:solidFill>
                <a:latin typeface="Source Han Sans SC"/>
                <a:ea typeface="Source Han Sans SC"/>
              </a:rPr>
              <a:t> · </a:t>
            </a: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可验证产出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590550" y="3333750"/>
            <a:ext cx="5219700" cy="1857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E4FA8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技术架构定稿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：确定五层解耦架构，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K8s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调度插件与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Python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决策服务以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gRPC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解耦，支持启发式安全回退。</a:t>
            </a:r>
            <a:endParaRPr/>
          </a:p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E4FA8"/>
                </a:solidFill>
                <a:latin typeface="Source Han Sans SC"/>
                <a:ea typeface="Source Han Sans SC"/>
              </a:rPr>
              <a:t>② </a:t>
            </a: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仿真引擎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：自研离散事件仿真器，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支持自定义异构拓扑与拥塞负载生成，单次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200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任务实验耗时不足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1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秒。</a:t>
            </a:r>
            <a:endParaRPr/>
          </a:p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E4FA8"/>
                </a:solidFill>
                <a:latin typeface="Source Han Sans SC"/>
                <a:ea typeface="Source Han Sans SC"/>
              </a:rPr>
              <a:t>③ </a:t>
            </a:r>
            <a:r>
              <a:rPr lang="zh-CN" sz="1350" b="1">
                <a:solidFill>
                  <a:srgbClr val="1E4FA8"/>
                </a:solidFill>
                <a:latin typeface="Source Han Sans SC"/>
                <a:ea typeface="Source Han Sans SC"/>
              </a:rPr>
              <a:t>核心模块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：任务特征提取（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20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维）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与硬件性能监控（无硬件时自动降级为模拟采集）均已通过测试。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590550" y="5191125"/>
            <a:ext cx="5219700" cy="295275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已开源：</a:t>
            </a:r>
            <a:r>
              <a:rPr lang="en-US" sz="1275">
                <a:solidFill>
                  <a:srgbClr val="8B97A8"/>
                </a:solidFill>
                <a:latin typeface="Source Han Sans SC"/>
                <a:ea typeface="Source Han Sans SC"/>
              </a:rPr>
              <a:t>github.com/quannie255-star/HeteroNexus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172200" y="2781300"/>
            <a:ext cx="5638800" cy="27432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6172200" y="2781300"/>
            <a:ext cx="5638800" cy="2743200"/>
          </a:xfrm>
          <a:custGeom>
            <a:pathLst>
              <a:path w="592" h="288">
                <a:moveTo>
                  <a:pt x="586" y="0"/>
                </a:moveTo>
                <a:cubicBezTo>
                  <a:pt x="589" y="0"/>
                  <a:pt x="592" y="2"/>
                  <a:pt x="592" y="5"/>
                </a:cubicBezTo>
                <a:cubicBezTo>
                  <a:pt x="591" y="4"/>
                  <a:pt x="590" y="3"/>
                  <a:pt x="589" y="3"/>
                </a:cubicBezTo>
                <a:lnTo>
                  <a:pt x="3" y="3"/>
                </a:lnTo>
                <a:cubicBezTo>
                  <a:pt x="2" y="3"/>
                  <a:pt x="0" y="4"/>
                  <a:pt x="0" y="5"/>
                </a:cubicBezTo>
                <a:cubicBezTo>
                  <a:pt x="0" y="2"/>
                  <a:pt x="3" y="0"/>
                  <a:pt x="6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381750" y="2933700"/>
            <a:ext cx="52197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B03A37"/>
                </a:solidFill>
                <a:latin typeface="Source Han Sans SC"/>
                <a:ea typeface="Source Han Sans SC"/>
              </a:rPr>
              <a:t>未完成</a:t>
            </a:r>
            <a:r>
              <a:rPr lang="en-US" sz="1950" b="1">
                <a:solidFill>
                  <a:srgbClr val="B03A37"/>
                </a:solidFill>
                <a:latin typeface="Source Han Sans SC"/>
                <a:ea typeface="Source Han Sans SC"/>
              </a:rPr>
              <a:t> · </a:t>
            </a:r>
            <a:r>
              <a:rPr lang="zh-CN" sz="1950" b="1">
                <a:solidFill>
                  <a:srgbClr val="B03A37"/>
                </a:solidFill>
                <a:latin typeface="Source Han Sans SC"/>
                <a:ea typeface="Source Han Sans SC"/>
              </a:rPr>
              <a:t>主动暴露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381750" y="3333750"/>
            <a:ext cx="5219700" cy="1543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D9534F"/>
                </a:solidFill>
                <a:latin typeface="Source Han Sans SC"/>
                <a:ea typeface="Source Han Sans SC"/>
              </a:rPr>
              <a:t>① </a:t>
            </a:r>
            <a:r>
              <a:rPr lang="zh-CN" sz="1350" b="1">
                <a:solidFill>
                  <a:srgbClr val="D9534F"/>
                </a:solidFill>
                <a:latin typeface="Source Han Sans SC"/>
                <a:ea typeface="Source Han Sans SC"/>
              </a:rPr>
              <a:t>真实集群验证尚未开展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本季度结论全部来自仿真环境，集群验证安排在第三季度。</a:t>
            </a:r>
            <a:endParaRPr/>
          </a:p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D9534F"/>
                </a:solidFill>
                <a:latin typeface="Source Han Sans SC"/>
                <a:ea typeface="Source Han Sans SC"/>
              </a:rPr>
              <a:t>② DRL </a:t>
            </a:r>
            <a:r>
              <a:rPr lang="zh-CN" sz="1350" b="1">
                <a:solidFill>
                  <a:srgbClr val="D9534F"/>
                </a:solidFill>
                <a:latin typeface="Source Han Sans SC"/>
                <a:ea typeface="Source Han Sans SC"/>
              </a:rPr>
              <a:t>策略尚未训练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当前交付的是奖励驱动的贪心策略原型，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PPO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网络待第二季度训练。</a:t>
            </a:r>
            <a:endParaRPr/>
          </a:p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D9534F"/>
                </a:solidFill>
                <a:latin typeface="Source Han Sans SC"/>
                <a:ea typeface="Source Han Sans SC"/>
              </a:rPr>
              <a:t>③ K8s </a:t>
            </a:r>
            <a:r>
              <a:rPr lang="zh-CN" sz="1350" b="1">
                <a:solidFill>
                  <a:srgbClr val="D9534F"/>
                </a:solidFill>
                <a:latin typeface="Source Han Sans SC"/>
                <a:ea typeface="Source Han Sans SC"/>
              </a:rPr>
              <a:t>插件未启动编码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：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受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Go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语言经验限制，调整见第四部分。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381750" y="5048250"/>
            <a:ext cx="5219700" cy="295275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我们倾向于先讲清楚边界，再请老师判断调整方向。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419100" y="57150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419100" y="5715000"/>
            <a:ext cx="11430000" cy="457200"/>
          </a:xfrm>
          <a:custGeom>
            <a:pathLst>
              <a:path w="1200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09600" y="5829300"/>
            <a:ext cx="7381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一句话概括本季度：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把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能跑、能复现、能演示</a:t>
            </a:r>
            <a:r>
              <a:rPr lang="en-US" sz="150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的验证底座搭起来了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，而不是先堆文档。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40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4 }}&gt;&#10;            架构设计的核心取舍：&lt;span style={{ fontWeight: 'bold', color: '#0E3F8C' }}&gt;智能决策层与调度内核层彻底解耦&lt;/span&gt;，让模型出问题时系统仍能安全运行。&#10;        &lt;/Text&gt;&#10;&#10;        &lt;Box style={{ flexDirection: 'row', gap: 16, height: 440, marginBottom: 14 }}&gt;&#10;            {/* 左：五层架构 */}&#10;            &lt;Box style={{ width: 700, flexDirection: 'column', gap: 5 }}&gt;&#10;                &lt;Box style={{ height: 83, background: '#F7F9FC', border: '1px solid #D6DCE5', borderLeft: '5px solid #8B97A8', borderRadius: 4, padding: '10px 18px', flexDirection: 'column', justifyContent: 'center' }}&gt;&#10;                    &lt;Text style={{ fontSize: 22, fontWeight: 'bold', color: '#1A2230' }}&gt;产品与接口层&lt;/Text&gt;&#10;                    &lt;Text style={{ fontSize: 17, color: '#4A5568' }}&gt;Web 控制台 · FastAPI 任务提交 API · CLI · Helm 一键部署&lt;/Text&gt;&#10;                &lt;/Box&gt;&#10;                &lt;Box style={{ height: 83, background: '#F7F9FC', border: '1px solid #D6DCE5', borderLeft: '5px solid #3D7BD9', borderRadius: 4, padding: '10px 18px', flexDirection: 'column', justifyContent: 'center' }}&gt;&#10;                    &lt;Text style={{ fontSize: 22, fontWeight: 'bold', color: '#1A2230' }}&gt;可观测与管理层&lt;/Text&gt;&#10;                    &lt;Text style={{ fontSize: 17, color: '#4A5568' }}&gt;Prometheus 指标 · Grafana 面板 · OpenTelemetry 链路 · 成本核算&lt;/Text&gt;&#10;                &lt;/Box&gt;&#10;                &lt;Box style={{ height: 83, background: '#1E4FA8', borderRadius: 4, padding: '10px 18px', flexDirection: 'column', justifyContent: 'center' }}&gt;&#10;                    &lt;Text style={{ fontSize: 22, fontWeight: 'bold', color: '#FFFFFF' }}&gt;智能决策层　★ 核心创新&lt;/Text&gt;&#10;                    &lt;Text style={{ fontSize: 17, color: '#CFE0F5' }}&gt;DRL 调度代理（PPO）· 20 维任务特征提取 · 多目标奖励引擎&lt;/Text&gt;&#10;                &lt;/Box&gt;&#10;                &lt;Box style={{ height: 83, background: '#F7F9FC', border: '1px solid #D6DCE5', borderLeft: '5px solid #3D7BD9', borderRadius: 4, padding: '10px 18px', flexDirection: 'column', justifyContent: 'center' }}&gt;&#10;                    &lt;Text style={{ fontSize: 22, fontWeight: 'bold', color: '#1A2230' }}&gt;集群调度内核层&lt;/Text&gt;&#10;                    &lt;Text style={{ fontSize: 17, color: '#4A5568' }}&gt;K8s Scheduler Framework · Filter / Score / Permit / Reserve · DRA&lt;/Text&gt;&#10;                &lt;/Box&gt;&#10;                &lt;Box style={{ height: 83, background: '#F7F9FC', border: '1px solid #D6DCE5', borderLeft: '5px solid #8B97A8', borderRadius: 4, padding: '10px 18px', flexDirection: 'column', justifyContent: 'center' }}&gt;&#10;                    &lt;Text style={{ fontSize: 22, fontWeight: 'bold', color: '#1A2230' }}&gt;基础设施层&lt;/Text&gt;&#10;                    &lt;Text style={{ fontSize: 17, color: '#4A5568' }}&gt;CPU / GPU / FPGA 异构节点池 · containerd · NVLink / RDMA 拓扑&lt;/Text&gt;&#10;                &lt;/Box&gt;&#10;            &lt;/Box&gt;&#10;&#10;            {/* 右：核心数据流 */}&#10;            &lt;Box style={{ flex: 1, background: '#F0F5FC', borderRadius: 6, padding: '14px 18px', flexDirection: 'column' }}&gt;&#10;                &lt;Text style={{ fontSize: 22, fontWeight: 'bold', color: '#0E3F8C', marginBottom: 10 }}&gt;核心数据流&lt;/Text&gt;&#10;                &lt;Box style={{ flexDirection: 'row', gap: 10, marginBottom: 8, alignItems: 'flex-start' }}&gt;&#10;                    &lt;Text style={{ fontSize: 16, fontWeight: 'bold', color: '#1E4FA8', width: 20 }}&gt;1&lt;/Text&gt;&#10;                    &lt;Text style={{ fontSize: 16, color: '#4A5568', flex: 1, lineHeight: 1.4 }}&gt;用户经 CLI / API 提交任务，声明 CPU / GPU / 显存需求&lt;/Text&gt;&#10;                &lt;/Box&gt;&#10;                &lt;Box style={{ flexDirection: 'row', gap: 10, marginBottom: 8, alignItems: 'flex-start' }}&gt;&#10;                    &lt;Text style={{ fontSize: 16, fontWeight: 'bold', color: '#1E4FA8', width: 20 }}&gt;2&lt;/Text&gt;&#10;                    &lt;Text style={{ fontSize: 16, color: '#4A5568', flex: 1, lineHeight: 1.4 }}&gt;特征提取器生成 20 维向量，任务进入调度队列&lt;/Text&gt;&#10;                &lt;/Box&gt;&#10;                &lt;Box style={{ flexDirection: 'row', gap: 10, marginBottom: 8, alignItems: 'flex-start' }}&gt;&#10;                    &lt;Text style={{ fontSize: 16, fontWeight: 'bold', color: '#1E4FA8', width: 20 }}&gt;3&lt;/Text&gt;&#10;                    &lt;Text style={{ fontSize: 16, color: '#4A5568', flex: 1, lineHeight: 1.4 }}&gt;监控模块按秒级采集各节点 CPU / GPU / 功耗指标&lt;/Text&gt;&#10;                &lt;/Box&gt;&#10;                &lt;Box style={{ flexDirection: 'row', gap: 10, marginBottom: 8, alignItems: 'flex-start' }}&gt;&#10;                    &lt;Text style={{ fontSize: 16, fontWeight: 'bold', color: '#1E4FA8', width: 20 }}&gt;4&lt;/Text&gt;&#10;                    &lt;Text style={{ fontSize: 16, color: '#4A5568', flex: 1, lineHeight: 1.4 }}&gt;决策代理输出（任务 → 节点）放置方案&lt;/Text&gt;&#10;                &lt;/Box&gt;&#10;                &lt;Box style={{ flexDirection: 'row', gap: 10, marginBottom: 8, alignItems: 'flex-start' }}&gt;&#10;                    &lt;Text style={{ fontSize: 16, fontWeight: 'bold', color: '#1E4FA8', width: 20 }}&gt;5&lt;/Text&gt;&#10;                    &lt;Text style={{ fontSize: 16, color: '#4A5568', flex: 1, lineHeight: 1.4 }}&gt;K8s 插件在 Score 扩展点消费该方案&lt;/Text&gt;&#10;                &lt;/Box&gt;&#10;                &lt;Box style={{ flexDirection: 'row', gap: 10, marginBottom: 8, alignItems: 'flex-start' }}&gt;&#10;                    &lt;Text style={{ fontSize: 16, fontWeight: 'bold', color: '#1E4FA8', width: 20 }}&gt;6&lt;/Text&gt;&#10;                    &lt;Text style={{ fontSize: 16, color: '#4A5568', flex: 1, lineHeight: 1.4 }}&gt;运行期持续回采指标，反馈给奖励引擎&lt;/Text&gt;&#10;                &lt;/Box&gt;&#10;                &lt;Box style={{ flexDirection: 'row', gap: 10, alignItems: 'flex-start' }}&gt;&#10;                    &lt;Text style={{ fontSize: 16, fontWeight: 'bold', color: '#1E4FA8', width: 20 }}&gt;7&lt;/Text&gt;&#10;                    &lt;Text style={{ fontSize: 16, color: '#4A5568', flex: 1, lineHeight: 1.4 }}&gt;任务结束记录 JCT / 利用率 / 资源浪费，写入经验回放池&lt;/Text&gt;&#10;                &lt;/Box&gt;&#10;                &lt;Box style={{ marginTop: 'auto', paddingTop: 10, borderTop: '1px solid #D6DCE5' }}&gt;&#10;                    &lt;Text style={{ fontSize: 16, color: '#0E3F8C', lineHeight: 1.4 }}&gt;&#10;                        &lt;span style={{ fontWeight: 'bold' }}&gt;安全回退&lt;/span&gt;：决策代理不可用时，插件降级为内置 DRF 启发式。&#10;                    &lt;/Text&gt;&#10;                &lt;/Box&gt;&#10;            &lt;/Box&gt;&#10;        &lt;/Box&gt;&#10;&#10;        &lt;Box style={{ height: 48, background: '#E8EFF8', borderLeft: '4px solid #FFC107', borderRadius: 4, padding: '0 20px', flexDirection: 'row', alignItems: 'center', marginTop: 'auto' }}&gt;&#10;            &lt;Text style={{ fontSize: 20, color: '#1A2230' }}&gt;&#10;                本季度已完成的，是图中&lt;span style={{ fontWeight: 'bold', color: '#0E3F8C' }}&gt;智能决策层的算法验证&lt;/span&gt;与&#10;                &lt;span style={{ fontWeight: 'bold', color: '#0E3F8C' }}&gt;内核层的接口设计&lt;/span&gt;；编码实现从第二季度展开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架构设计的核心取舍：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智能决策层与调度内核层彻底解耦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，让模型出问题时系统仍能安全运行。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28625" y="1266825"/>
            <a:ext cx="6667500" cy="790575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428625" y="1266825"/>
            <a:ext cx="6667500" cy="790575"/>
          </a:xfrm>
          <a:custGeom>
            <a:pathLst>
              <a:path w="700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0075" y="1438275"/>
            <a:ext cx="627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产品与接口层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0075" y="1695450"/>
            <a:ext cx="627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Web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控制台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FastAPI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任务提交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API · CLI · Helm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一键部署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28625" y="2105025"/>
            <a:ext cx="6667500" cy="790575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428625" y="2105025"/>
            <a:ext cx="6667500" cy="790575"/>
          </a:xfrm>
          <a:custGeom>
            <a:pathLst>
              <a:path w="700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0075" y="2276475"/>
            <a:ext cx="627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可观测与管理层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600075" y="2533650"/>
            <a:ext cx="627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Prometheus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指标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Grafana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面板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OpenTelemetry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链路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成本核算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381000" y="2943225"/>
            <a:ext cx="6667500" cy="790575"/>
          </a:xfrm>
          <a:prstGeom prst="roundRect">
            <a:avLst>
              <a:gd name="adj" fmla="val 481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52450" y="3114675"/>
            <a:ext cx="632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智能决策层　★</a:t>
            </a: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核心创新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552450" y="3371850"/>
            <a:ext cx="6324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FE0F5"/>
                </a:solidFill>
                <a:latin typeface="Source Han Sans SC"/>
                <a:ea typeface="Source Han Sans SC"/>
              </a:rPr>
              <a:t>DRL </a:t>
            </a:r>
            <a:r>
              <a:rPr lang="zh-CN" sz="1275">
                <a:solidFill>
                  <a:srgbClr val="CFE0F5"/>
                </a:solidFill>
                <a:latin typeface="Source Han Sans SC"/>
                <a:ea typeface="Source Han Sans SC"/>
              </a:rPr>
              <a:t>调度代理（</a:t>
            </a:r>
            <a:r>
              <a:rPr lang="en-US" sz="1275">
                <a:solidFill>
                  <a:srgbClr val="CFE0F5"/>
                </a:solidFill>
                <a:latin typeface="Source Han Sans SC"/>
                <a:ea typeface="Source Han Sans SC"/>
              </a:rPr>
              <a:t>PPO</a:t>
            </a:r>
            <a:r>
              <a:rPr lang="zh-CN" sz="1275">
                <a:solidFill>
                  <a:srgbClr val="CFE0F5"/>
                </a:solidFill>
                <a:latin typeface="Source Han Sans SC"/>
                <a:ea typeface="Source Han Sans SC"/>
              </a:rPr>
              <a:t>）·</a:t>
            </a:r>
            <a:r>
              <a:rPr lang="en-US" sz="1275">
                <a:solidFill>
                  <a:srgbClr val="CFE0F5"/>
                </a:solidFill>
                <a:latin typeface="Source Han Sans SC"/>
                <a:ea typeface="Source Han Sans SC"/>
              </a:rPr>
              <a:t> 20 </a:t>
            </a:r>
            <a:r>
              <a:rPr lang="zh-CN" sz="1275">
                <a:solidFill>
                  <a:srgbClr val="CFE0F5"/>
                </a:solidFill>
                <a:latin typeface="Source Han Sans SC"/>
                <a:ea typeface="Source Han Sans SC"/>
              </a:rPr>
              <a:t>维任务特征提取</a:t>
            </a:r>
            <a:r>
              <a:rPr lang="en-US" sz="1275">
                <a:solidFill>
                  <a:srgbClr val="CFE0F5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CFE0F5"/>
                </a:solidFill>
                <a:latin typeface="Source Han Sans SC"/>
                <a:ea typeface="Source Han Sans SC"/>
              </a:rPr>
              <a:t>多目标奖励引擎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28625" y="3781425"/>
            <a:ext cx="6667500" cy="790575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428625" y="3781425"/>
            <a:ext cx="6667500" cy="790575"/>
          </a:xfrm>
          <a:custGeom>
            <a:pathLst>
              <a:path w="700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0075" y="3952875"/>
            <a:ext cx="627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集群调度内核层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0075" y="4210050"/>
            <a:ext cx="627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K8s Scheduler Framework · Filter / Score / Permit / Reserve · DRA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28625" y="4619625"/>
            <a:ext cx="6667500" cy="790575"/>
          </a:xfrm>
          <a:prstGeom prst="roundRect">
            <a:avLst>
              <a:gd name="adj" fmla="val 481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428625" y="4619625"/>
            <a:ext cx="6667500" cy="790575"/>
          </a:xfrm>
          <a:custGeom>
            <a:pathLst>
              <a:path w="700" h="83">
                <a:moveTo>
                  <a:pt x="5" y="83"/>
                </a:moveTo>
                <a:cubicBezTo>
                  <a:pt x="4" y="83"/>
                  <a:pt x="3" y="83"/>
                  <a:pt x="2" y="82"/>
                </a:cubicBezTo>
                <a:cubicBezTo>
                  <a:pt x="1" y="82"/>
                  <a:pt x="0" y="81"/>
                  <a:pt x="0" y="79"/>
                </a:cubicBezTo>
                <a:lnTo>
                  <a:pt x="0" y="79"/>
                </a:lnTo>
                <a:lnTo>
                  <a:pt x="0" y="7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0075" y="4791075"/>
            <a:ext cx="627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基础设施层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0075" y="5048250"/>
            <a:ext cx="6276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CPU / GPU / FPGA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异构节点池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· containerd · NVLink / RDMA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拓扑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7200900" y="1266825"/>
            <a:ext cx="4610100" cy="4191000"/>
          </a:xfrm>
          <a:prstGeom prst="roundRect">
            <a:avLst>
              <a:gd name="adj" fmla="val 13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372350" y="14001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核心数据流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372350" y="17526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7658100" y="1752600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用户经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CLI / API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提交任务，声明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CPU / GPU /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显存需求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372350" y="20859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658100" y="2085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特征提取器生成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20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维向量，任务进入调度队列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372350" y="24193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658100" y="2419350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监控模块按秒级采集各节点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CPU / GPU /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功耗指标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372350" y="275272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658100" y="27527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决策代理输出（任务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节点）放置方案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7372350" y="308610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5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658100" y="3086100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K8s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插件在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Score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扩展点消费该方案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7372350" y="3419475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6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7658100" y="34194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运行期持续回采指标，反馈给奖励引擎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372350" y="3752850"/>
            <a:ext cx="19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ource Han Sans SC"/>
                <a:ea typeface="Source Han Sans SC"/>
              </a:rPr>
              <a:t>7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7658100" y="3752850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任务结束记录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JCT /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利用率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/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资源浪费，写入经验回放池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7372350" y="4962525"/>
            <a:ext cx="4267200" cy="371475"/>
          </a:xfrm>
          <a:custGeom>
            <a:pathLst>
              <a:path w="448" h="39">
                <a:moveTo>
                  <a:pt x="0" y="0"/>
                </a:moveTo>
                <a:lnTo>
                  <a:pt x="448" y="0"/>
                </a:lnTo>
                <a:lnTo>
                  <a:pt x="448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7372350" y="506730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 b="1">
                <a:solidFill>
                  <a:srgbClr val="0E3F8C"/>
                </a:solidFill>
                <a:latin typeface="Source Han Sans SC"/>
                <a:ea typeface="Source Han Sans SC"/>
              </a:rPr>
              <a:t>安全回退</a:t>
            </a:r>
            <a:r>
              <a:rPr lang="zh-CN" sz="1200">
                <a:solidFill>
                  <a:srgbClr val="0E3F8C"/>
                </a:solidFill>
                <a:latin typeface="Source Han Sans SC"/>
                <a:ea typeface="Source Han Sans SC"/>
              </a:rPr>
              <a:t>：决策代理不可用时，插件降级为内置</a:t>
            </a:r>
            <a:r>
              <a:rPr lang="en-US" sz="1200">
                <a:solidFill>
                  <a:srgbClr val="0E3F8C"/>
                </a:solidFill>
                <a:latin typeface="Source Han Sans SC"/>
                <a:ea typeface="Source Han Sans SC"/>
              </a:rPr>
              <a:t> DRF </a:t>
            </a:r>
            <a:r>
              <a:rPr lang="zh-CN" sz="1200">
                <a:solidFill>
                  <a:srgbClr val="0E3F8C"/>
                </a:solidFill>
                <a:latin typeface="Source Han Sans SC"/>
                <a:ea typeface="Source Han Sans SC"/>
              </a:rPr>
              <a:t>启发式。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419100" y="57150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84" name=""/>
          <p:cNvSpPr/>
          <p:nvPr/>
        </p:nvSpPr>
        <p:spPr>
          <a:xfrm rot="0" flipH="0" flipV="0">
            <a:off x="419100" y="5715000"/>
            <a:ext cx="11430000" cy="457200"/>
          </a:xfrm>
          <a:custGeom>
            <a:pathLst>
              <a:path w="1200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09600" y="5829300"/>
            <a:ext cx="819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本季度已完成的，是图中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智能决策层的算法验证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与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内核层的接口设计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；编码实现从第二季度展开。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88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{/* L0 引导问题条 */}&#10;        &lt;Box style={{ height: 48, background: '#0E3F8C', borderRadius: 4, padding: '0 22px', flexDirection: 'row', alignItems: 'center', marginBottom: 14 }}&gt;&#10;            &lt;Text style={{ fontSize: 21, fontWeight: 'bold', color: '#FFFFFF' }}&gt;&#10;                问题：在异构集群里，「按什么顺序排队」到底有多大影响？我们跑了 200 个任务来量化它。&#10;            &lt;/Text&gt;&#10;        &lt;/Box&gt;&#10;&#10;        {/* 主图 + 洞察 */}&#10;        &lt;Box style={{ flexDirection: 'row', gap: 18, height: 400, marginBottom: 14 }}&gt;&#10;            {/* 主图：JCT 三指标对比 */}&#10;            &lt;Box style={{ width: 720, background: '#F7F9FC', borderRadius: 6, padding: '16px 20px', flexDirection: 'column' }}&gt;&#10;                &lt;Text style={{ fontSize: 22, fontWeight: 'bold', color: '#1A2230', marginBottom: 4 }}&gt;&#10;                    四类基线算法的作业完成时间（JCT）对比&#10;                &lt;/Text&gt;&#10;                &lt;Text style={{ fontSize: 15, color: '#8B97A8', marginBottom: 10 }}&gt;&#10;                    3 × GPU 节点（8 卡）+ 3 × CPU 节点 · 200 混合任务 · 随机种子 42 · 单位：仿真秒&#10;                &lt;/Text&gt;&#10;&#10;                &lt;Box style={{ flexDirection: 'row', alignItems: 'flex-end', gap: 20, flex: 1 }}&gt;&#10;                    {/* FIFO */}&#10;                    &lt;Box style={{ flex: 1, flexDirection: 'column', alignItems: 'center' }}&gt;&#10;                        &lt;Box style={{ flexDirection: 'row', alignItems: 'flex-end', gap: 5, height: 240 }}&gt;&#10;                            &lt;Box style={{ width: 32, height: 53, background: '#8B97A8', borderRadius: '2px 2px 0 0' }} /&gt;&#10;                            &lt;Box style={{ width: 32, height: 38, background: '#B8C4D2', borderRadius: '2px 2px 0 0' }} /&gt;&#10;                            &lt;Box style={{ width: 32, height: 206, background: '#FFC107', borderRadius: '2px 2px 0 0' }} /&gt;&#10;                        &lt;/Box&gt;&#10;                        &lt;Text style={{ fontSize: 20, fontWeight: 'bold', color: '#1A2230', marginTop: 8 }}&gt;FIFO&lt;/Text&gt;&#10;                        &lt;Text style={{ fontSize: 15, color: '#8B97A8' }}&gt;基线&lt;/Text&gt;&#10;                    &lt;/Box&gt;&#10;&#10;                    {/* BestFit */}&#10;                    &lt;Box style={{ flex: 1, flexDirection: 'column', alignItems: 'center' }}&gt;&#10;                        &lt;Box style={{ flexDirection: 'row', alignItems: 'flex-end', gap: 5, height: 240 }}&gt;&#10;                            &lt;Box style={{ width: 32, height: 56, background: '#8B97A8', borderRadius: '2px 2px 0 0' }} /&gt;&#10;                            &lt;Box style={{ width: 32, height: 42, background: '#B8C4D2', borderRadius: '2px 2px 0 0' }} /&gt;&#10;                            &lt;Box style={{ width: 32, height: 210, background: '#FFC107', borderRadius: '2px 2px 0 0' }} /&gt;&#10;                        &lt;/Box&gt;&#10;                        &lt;Text style={{ fontSize: 20, fontWeight: 'bold', color: '#1A2230', marginTop: 8 }}&gt;BestFit&lt;/Text&gt;&#10;                        &lt;Text style={{ fontSize: 15, color: '#8B97A8' }}&gt;最佳适配&lt;/Text&gt;&#10;                    &lt;/Box&gt;&#10;&#10;                    {/* DRF */}&#10;                    &lt;Box style={{ flex: 1, flexDirection: 'column', alignItems: 'center' }}&gt;&#10;                        &lt;Box style={{ flexDirection: 'row', alignItems: 'flex-end', gap: 5, height: 240 }}&gt;&#10;                            &lt;Box style={{ width: 32, height: 46, background: '#1E4FA8', borderRadius: '2px 2px 0 0' }} /&gt;&#10;                            &lt;Box style={{ width: 32, height: 17, background: '#3D7BD9', borderRadius: '2px 2px 0 0' }} /&gt;&#10;                            &lt;Box style={{ width: 32, height: 239, background: '#FFC107', borderRadius: '2px 2px 0 0' }} /&gt;&#10;                        &lt;/Box&gt;&#10;                        &lt;Text style={{ fontSize: 20, fontWeight: 'bold', color: '#1E4FA8', marginTop: 8 }}&gt;DRF&lt;/Text&gt;&#10;                        &lt;Text style={{ fontSize: 15, color: '#8B97A8' }}&gt;主导资源公平&lt;/Text&gt;&#10;                    &lt;/Box&gt;&#10;&#10;                    {/* SJF */}&#10;                    &lt;Box style={{ flex: 1, flexDirection: 'column', alignItems: 'center' }}&gt;&#10;                        &lt;Box style={{ flexDirection: 'row', alignItems: 'flex-end', gap: 5, height: 240 }}&gt;&#10;                            &lt;Box style={{ width: 32, height: 44, background: '#1E4FA8', borderRadius: '2px 2px 0 0' }} /&gt;&#10;                            &lt;Box style={{ width: 32, height: 16, background: '#3D7BD9', borderRadius: '2px 2px 0 0' }} /&gt;&#10;                            &lt;Box style={{ width: 32, height: 229, background: '#FFC107', borderRadius: '2px 2px 0 0' }} /&gt;&#10;                        &lt;/Box&gt;&#10;                        &lt;Text style={{ fontSize: 20, fontWeight: 'bold', color: '#1E4FA8', marginTop: 8 }}&gt;SJF&lt;/Text&gt;&#10;                        &lt;Text style={{ fontSize: 15, color: '#8B97A8' }}&gt;最短作业优先&lt;/Text&gt;&#10;                    &lt;/Box&gt;&#10;                &lt;/Box&gt;&#10;&#10;                &lt;Box style={{ flexDirection: 'row', gap: 22, marginTop: 10, paddingTop: 8, borderTop: '1px solid #D6DCE5' }}&gt;&#10;                    &lt;Box style={{ flexDirection: 'row', alignItems: 'center', gap: 6 }}&gt;&#10;                        &lt;Box style={{ width: 14, height: 14, background: '#1E4FA8' }} /&gt;&#10;                        &lt;Text style={{ fontSize: 16, color: '#4A5568' }}&gt;平均 JCT&lt;/Text&gt;&#10;                    &lt;/Box&gt;&#10;                    &lt;Box style={{ flexDirection: 'row', alignItems: 'center', gap: 6 }}&gt;&#10;                        &lt;Box style={{ width: 14, height: 14, background: '#3D7BD9' }} /&gt;&#10;                        &lt;Text style={{ fontSize: 16, color: '#4A5568' }}&gt;中位 JCT&lt;/Text&gt;&#10;                    &lt;/Box&gt;&#10;                    &lt;Box style={{ flexDirection: 'row', alignItems: 'center', gap: 6 }}&gt;&#10;                        &lt;Box style={{ width: 14, height: 14, background: '#FFC107' }} /&gt;&#10;                        &lt;Text style={{ fontSize: 16, color: '#4A5568' }}&gt;P95 JCT（长尾）&lt;/Text&gt;&#10;                    &lt;/Box&gt;&#10;                    &lt;Box style={{ flexDirection: 'row', alignItems: 'center', gap: 6 }}&gt;&#10;                        &lt;Box style={{ width: 14, height: 14, background: '#8B97A8' }} /&gt;&#10;                        &lt;Text style={{ fontSize: 16, color: '#4A5568' }}&gt;FIFO 对照&lt;/Text&gt;&#10;                    &lt;/Box&gt;&#10;                &lt;/Box&gt;&#10;            &lt;/Box&gt;&#10;&#10;            {/* 洞察栏 */}&#10;            &lt;Box style={{ flex: 1, flexDirection: 'column', gap: 12 }}&gt;&#10;                &lt;Box style={{ background: '#F0F5FC', borderRadius: 6, padding: '14px 18px', flexDirection: 'row', alignItems: 'center', gap: 14 }}&gt;&#10;                    &lt;Text style={{ fontSize: 64, fontWeight: 'bold', color: '#1E4FA8', lineHeight: 1.0 }}&gt;14.2%&lt;/Text&gt;&#10;                    &lt;Text style={{ fontSize: 19, color: '#4A5568', flex: 1, lineHeight: 1.4 }}&gt;DRF 相较 FIFO&#10;                        &lt;br /&gt;&#10;                        平均 JCT 降幅&lt;/Text&gt;&#10;                &lt;/Box&gt;&#10;                &lt;Box style={{ background: '#F0F5FC', borderRadius: 6, padding: '14px 18px', flexDirection: 'row', alignItems: 'center', gap: 14 }}&gt;&#10;                    &lt;Text style={{ fontSize: 64, fontWeight: 'bold', color: '#1E4FA8', lineHeight: 1.0 }}&gt;54.3%&lt;/Text&gt;&#10;                    &lt;Text style={{ fontSize: 19, color: '#4A5568', flex: 1, lineHeight: 1.4 }}&gt;DRF 相较 FIFO&#10;                        &lt;br /&gt;&#10;                        中位 JCT 降幅&lt;/Text&gt;&#10;                &lt;/Box&gt;&#10;                &lt;Box style={{ background: '#FDF3F3', borderRadius: 6, padding: '14px 18px', flexDirection: 'row', alignItems: 'center', gap: 14 }}&gt;&#10;                    &lt;Text style={{ fontSize: 64, fontWeight: 'bold', color: '#D9534F', lineHeight: 1.0 }}&gt;+16%&lt;/Text&gt;&#10;                    &lt;Text style={{ fontSize: 19, color: '#4A5568', flex: 1, lineHeight: 1.4 }}&gt;DRF 的 P95 JCT&#10;                        &lt;br /&gt;&#10;                        相对 FIFO 反而变差&lt;/Text&gt;&#10;                &lt;/Box&gt;&#10;            &lt;/Box&gt;&#10;        &lt;/Box&gt;&#10;&#10;        &lt;Box style={{ height: 48, background: '#E8EFF8', borderLeft: '4px solid #FFC107', borderRadius: 4, padding: '0 20px', flexDirection: 'row', alignItems: 'center', marginTop: 'auto' }}&gt;&#10;            &lt;Text style={{ fontSize: 20, color: '#1A2230' }}&gt;&#10;                「排队顺序」是完成时间的第一影响因子；但&#10;                &lt;span style={{ fontWeight: 'bold', color: '#B03A37' }}&gt;短任务优先会饿死大任务&lt;/span&gt;&#10;                —— 这是所有启发式算法的共同天花板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数据来源：simulation/baseline_results.json（seed=42，可复现）&lt;/Text&gt;&#10;        &lt;Text style={{ fontSize: 14, fontWeight: 'bold', color: '#1E4FA8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381000" y="8763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590550" y="981075"/>
            <a:ext cx="8210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问题：在异构集群里，「按什么顺序排队」到底有多大影响？我们跑了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200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个任务来量化它。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381000" y="1466850"/>
            <a:ext cx="6858000" cy="400050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71500" y="1619250"/>
            <a:ext cx="6477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四类基线算法的作业完成时间（</a:t>
            </a:r>
            <a:r>
              <a:rPr lang="en-US" sz="1650" b="1">
                <a:solidFill>
                  <a:srgbClr val="1A2230"/>
                </a:solidFill>
                <a:latin typeface="Source Han Sans SC"/>
                <a:ea typeface="Source Han Sans SC"/>
              </a:rPr>
              <a:t>JCT</a:t>
            </a:r>
            <a:r>
              <a:rPr lang="zh-CN" sz="1650" b="1">
                <a:solidFill>
                  <a:srgbClr val="1A2230"/>
                </a:solidFill>
                <a:latin typeface="Source Han Sans SC"/>
                <a:ea typeface="Source Han Sans SC"/>
              </a:rPr>
              <a:t>）对比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571500" y="1914525"/>
            <a:ext cx="647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3 × GPU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节点（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8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卡）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+ 3 × CPU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节点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· 200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混合任务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随机种子</a:t>
            </a: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 42 · </a:t>
            </a: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单位：仿真秒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809625" y="3962400"/>
            <a:ext cx="304800" cy="504825"/>
          </a:xfrm>
          <a:custGeom>
            <a:pathLst>
              <a:path w="32" h="53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53"/>
                </a:lnTo>
                <a:lnTo>
                  <a:pt x="32" y="53"/>
                </a:lnTo>
                <a:lnTo>
                  <a:pt x="0" y="53"/>
                </a:lnTo>
                <a:lnTo>
                  <a:pt x="0" y="53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1162050" y="4105275"/>
            <a:ext cx="304800" cy="361950"/>
          </a:xfrm>
          <a:custGeom>
            <a:pathLst>
              <a:path w="32" h="38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38"/>
                </a:lnTo>
                <a:lnTo>
                  <a:pt x="32" y="38"/>
                </a:lnTo>
                <a:lnTo>
                  <a:pt x="0" y="38"/>
                </a:lnTo>
                <a:lnTo>
                  <a:pt x="0" y="38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B8C4D2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1514475" y="2505075"/>
            <a:ext cx="304800" cy="1962150"/>
          </a:xfrm>
          <a:custGeom>
            <a:pathLst>
              <a:path w="32" h="206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206"/>
                </a:lnTo>
                <a:lnTo>
                  <a:pt x="32" y="206"/>
                </a:lnTo>
                <a:lnTo>
                  <a:pt x="0" y="206"/>
                </a:lnTo>
                <a:lnTo>
                  <a:pt x="0" y="206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123950" y="454342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FIFO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171575" y="47720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基线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2476500" y="3933825"/>
            <a:ext cx="304800" cy="533400"/>
          </a:xfrm>
          <a:custGeom>
            <a:pathLst>
              <a:path w="32" h="56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56"/>
                </a:lnTo>
                <a:lnTo>
                  <a:pt x="32" y="56"/>
                </a:lnTo>
                <a:lnTo>
                  <a:pt x="0" y="56"/>
                </a:lnTo>
                <a:lnTo>
                  <a:pt x="0" y="56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8B97A8"/>
          </a:solidFill>
          <a:ln/>
        </p:spPr>
        <p:txBody>
          <a:bodyPr/>
          <a:p/>
        </p:txBody>
      </p:sp>
      <p:sp>
        <p:nvSpPr>
          <p:cNvPr id="504" name=""/>
          <p:cNvSpPr/>
          <p:nvPr/>
        </p:nvSpPr>
        <p:spPr>
          <a:xfrm rot="0" flipH="0" flipV="0">
            <a:off x="2828925" y="4067175"/>
            <a:ext cx="304800" cy="400050"/>
          </a:xfrm>
          <a:custGeom>
            <a:pathLst>
              <a:path w="32" h="42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42"/>
                </a:lnTo>
                <a:lnTo>
                  <a:pt x="32" y="42"/>
                </a:lnTo>
                <a:lnTo>
                  <a:pt x="0" y="42"/>
                </a:lnTo>
                <a:lnTo>
                  <a:pt x="0" y="42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B8C4D2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3181350" y="2466975"/>
            <a:ext cx="304800" cy="2000250"/>
          </a:xfrm>
          <a:custGeom>
            <a:pathLst>
              <a:path w="32" h="210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210"/>
                </a:lnTo>
                <a:lnTo>
                  <a:pt x="32" y="210"/>
                </a:lnTo>
                <a:lnTo>
                  <a:pt x="0" y="210"/>
                </a:lnTo>
                <a:lnTo>
                  <a:pt x="0" y="210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2686050" y="4543425"/>
            <a:ext cx="581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Source Han Sans SC"/>
                <a:ea typeface="Source Han Sans SC"/>
              </a:rPr>
              <a:t>BestFit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2695575" y="4772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最佳适配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4143375" y="4029075"/>
            <a:ext cx="304800" cy="438150"/>
          </a:xfrm>
          <a:custGeom>
            <a:pathLst>
              <a:path w="32" h="46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46"/>
                </a:lnTo>
                <a:lnTo>
                  <a:pt x="32" y="46"/>
                </a:lnTo>
                <a:lnTo>
                  <a:pt x="0" y="46"/>
                </a:lnTo>
                <a:lnTo>
                  <a:pt x="0" y="46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9" name=""/>
          <p:cNvSpPr/>
          <p:nvPr/>
        </p:nvSpPr>
        <p:spPr>
          <a:xfrm rot="0" flipH="0" flipV="0">
            <a:off x="4495800" y="4305300"/>
            <a:ext cx="304800" cy="161925"/>
          </a:xfrm>
          <a:custGeom>
            <a:pathLst>
              <a:path w="32" h="17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17"/>
                </a:lnTo>
                <a:lnTo>
                  <a:pt x="32" y="17"/>
                </a:lnTo>
                <a:lnTo>
                  <a:pt x="0" y="17"/>
                </a:lnTo>
                <a:lnTo>
                  <a:pt x="0" y="17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4848225" y="2190750"/>
            <a:ext cx="304800" cy="2276475"/>
          </a:xfrm>
          <a:custGeom>
            <a:pathLst>
              <a:path w="32" h="239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239"/>
                </a:lnTo>
                <a:lnTo>
                  <a:pt x="32" y="239"/>
                </a:lnTo>
                <a:lnTo>
                  <a:pt x="0" y="239"/>
                </a:lnTo>
                <a:lnTo>
                  <a:pt x="0" y="239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476750" y="4543425"/>
            <a:ext cx="34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Source Han Sans SC"/>
                <a:ea typeface="Source Han Sans SC"/>
              </a:rPr>
              <a:t>DRF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4219575" y="4772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主导资源公平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810250" y="4048125"/>
            <a:ext cx="304800" cy="419100"/>
          </a:xfrm>
          <a:custGeom>
            <a:pathLst>
              <a:path w="32" h="44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44"/>
                </a:lnTo>
                <a:lnTo>
                  <a:pt x="32" y="44"/>
                </a:lnTo>
                <a:lnTo>
                  <a:pt x="0" y="44"/>
                </a:lnTo>
                <a:lnTo>
                  <a:pt x="0" y="44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4" name=""/>
          <p:cNvSpPr/>
          <p:nvPr/>
        </p:nvSpPr>
        <p:spPr>
          <a:xfrm rot="0" flipH="0" flipV="0">
            <a:off x="6162675" y="4314825"/>
            <a:ext cx="304800" cy="152400"/>
          </a:xfrm>
          <a:custGeom>
            <a:pathLst>
              <a:path w="32" h="16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16"/>
                </a:lnTo>
                <a:lnTo>
                  <a:pt x="32" y="16"/>
                </a:lnTo>
                <a:lnTo>
                  <a:pt x="0" y="16"/>
                </a:lnTo>
                <a:lnTo>
                  <a:pt x="0" y="16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6515100" y="2286000"/>
            <a:ext cx="304800" cy="2181225"/>
          </a:xfrm>
          <a:custGeom>
            <a:pathLst>
              <a:path w="32" h="229">
                <a:moveTo>
                  <a:pt x="2" y="0"/>
                </a:moveTo>
                <a:lnTo>
                  <a:pt x="30" y="0"/>
                </a:lnTo>
                <a:cubicBezTo>
                  <a:pt x="31" y="0"/>
                  <a:pt x="32" y="1"/>
                  <a:pt x="32" y="2"/>
                </a:cubicBezTo>
                <a:lnTo>
                  <a:pt x="32" y="229"/>
                </a:lnTo>
                <a:lnTo>
                  <a:pt x="32" y="229"/>
                </a:lnTo>
                <a:lnTo>
                  <a:pt x="0" y="229"/>
                </a:lnTo>
                <a:lnTo>
                  <a:pt x="0" y="229"/>
                </a:lnTo>
                <a:lnTo>
                  <a:pt x="0" y="2"/>
                </a:lnTo>
                <a:cubicBezTo>
                  <a:pt x="0" y="1"/>
                  <a:pt x="1" y="0"/>
                  <a:pt x="2" y="0"/>
                </a:cubicBez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162675" y="45434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Source Han Sans SC"/>
                <a:ea typeface="Source Han Sans SC"/>
              </a:rPr>
              <a:t>SJF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886450" y="477202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最短作业优先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71500" y="5038725"/>
            <a:ext cx="6477000" cy="285750"/>
          </a:xfrm>
          <a:custGeom>
            <a:pathLst>
              <a:path w="680" h="30">
                <a:moveTo>
                  <a:pt x="0" y="0"/>
                </a:moveTo>
                <a:lnTo>
                  <a:pt x="680" y="0"/>
                </a:lnTo>
                <a:lnTo>
                  <a:pt x="6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571500" y="5153025"/>
            <a:ext cx="133350" cy="1333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62000" y="512445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平均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JCT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1571625" y="5153025"/>
            <a:ext cx="133350" cy="1333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762125" y="5124450"/>
            <a:ext cx="600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中位</a:t>
            </a: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 JCT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2571750" y="5153025"/>
            <a:ext cx="133350" cy="1333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762250" y="5124450"/>
            <a:ext cx="1152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P95 JCT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（长尾）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4124325" y="5153025"/>
            <a:ext cx="133350" cy="1333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4314825" y="5124450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Source Han Sans SC"/>
                <a:ea typeface="Source Han Sans SC"/>
              </a:rPr>
              <a:t>FIFO </a:t>
            </a:r>
            <a:r>
              <a:rPr lang="zh-CN" sz="1200">
                <a:solidFill>
                  <a:srgbClr val="4A5568"/>
                </a:solidFill>
                <a:latin typeface="Source Han Sans SC"/>
                <a:ea typeface="Source Han Sans SC"/>
              </a:rPr>
              <a:t>对照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410450" y="1466850"/>
            <a:ext cx="4400550" cy="1000125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581900" y="1600200"/>
            <a:ext cx="16383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Source Han Sans SC"/>
                <a:ea typeface="Source Han Sans SC"/>
              </a:rPr>
              <a:t>14.2%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353550" y="1666875"/>
            <a:ext cx="228600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DRF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相较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FIFO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平均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JCT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降幅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7410450" y="2581275"/>
            <a:ext cx="4400550" cy="1000125"/>
          </a:xfrm>
          <a:prstGeom prst="roundRect">
            <a:avLst>
              <a:gd name="adj" fmla="val 571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581900" y="2714625"/>
            <a:ext cx="16383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E4FA8"/>
                </a:solidFill>
                <a:latin typeface="Source Han Sans SC"/>
                <a:ea typeface="Source Han Sans SC"/>
              </a:rPr>
              <a:t>54.3%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9353550" y="2781300"/>
            <a:ext cx="2286000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DRF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相较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FIFO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中位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JCT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降幅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410450" y="3695700"/>
            <a:ext cx="4400550" cy="1000125"/>
          </a:xfrm>
          <a:prstGeom prst="roundRect">
            <a:avLst>
              <a:gd name="adj" fmla="val 5714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581900" y="3829050"/>
            <a:ext cx="14954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D9534F"/>
                </a:solidFill>
                <a:latin typeface="Source Han Sans SC"/>
                <a:ea typeface="Source Han Sans SC"/>
              </a:rPr>
              <a:t>+16%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9210675" y="3895725"/>
            <a:ext cx="2428875" cy="609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DRF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的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P95 JCT</a:t>
            </a:r>
            <a:endParaRPr/>
          </a:p>
          <a:p>
            <a:pPr>
              <a:lnSpc>
                <a:spcPct val="14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相对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FIFO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反而变差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419100" y="57150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419100" y="5715000"/>
            <a:ext cx="11430000" cy="457200"/>
          </a:xfrm>
          <a:custGeom>
            <a:pathLst>
              <a:path w="1200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5829300"/>
            <a:ext cx="9315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「排队顺序」是完成时间的第一影响因子；但</a:t>
            </a:r>
            <a:r>
              <a:rPr lang="zh-CN" sz="1500" b="1">
                <a:solidFill>
                  <a:srgbClr val="B03A37"/>
                </a:solidFill>
                <a:latin typeface="Source Han Sans SC"/>
                <a:ea typeface="Source Han Sans SC"/>
              </a:rPr>
              <a:t>短任务优先会饿死大任务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——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这是所有启发式算法的共同天花板。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3867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simulation/baseline_results.json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（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seed=42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，可复现）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4 }}&gt;&#10;            把这组数据读完，我们得到了四条结论 —— 其中&lt;span style={{ fontWeight: 'bold', color: '#B03A37' }}&gt;第三条恰恰解释了为什么必须有强化学习&lt;/span&gt;。&#10;        &lt;/Text&gt;&#10;&#10;        &lt;Box style={{ flexDirection: 'row', gap: 14, height: 360, marginBottom: 14 }}&gt;&#10;            &lt;Box style={{ flex: 1, flexDirection: 'column', gap: 14 }}&gt;&#10;                &lt;Box style={{ flex: 1, background: '#FFFFFF', border: '1px solid #D6DCE5', borderLeft: '4px solid #1E4FA8', borderRadius: 6, padding: '14px 18px', flexDirection: 'column' }}&gt;&#10;                    &lt;Text style={{ fontSize: 24, fontWeight: 'bold', color: '#0E3F8C', marginBottom: 8 }}&gt;① 排序策略是第一影响因子&lt;/Text&gt;&#10;                    &lt;Text style={{ fontSize: 20, color: '#4A5568', lineHeight: 1.55 }}&gt;&#10;                        DRF 平均 JCT 降低 14.2%、中位降低 54.3%，SJF 分别达 20.5% 与 66.1%。&#10;                        这一幅度超过绝大多数硬件升级带来的边际收益。&#10;                    &lt;/Text&gt;&#10;                &lt;/Box&gt;&#10;                &lt;Box style={{ flex: 1, background: '#FFFFFF', border: '1px solid #D6DCE5', borderLeft: '4px solid #D9534F', borderRadius: 6, padding: '14px 18px', flexDirection: 'column' }}&gt;&#10;                    &lt;Text style={{ fontSize: 24, fontWeight: 'bold', color: '#B03A37', marginBottom: 8 }}&gt;③ 长尾任务是所有基线的共同短板&lt;/Text&gt;&#10;                    &lt;Text style={{ fontSize: 20, color: '#4A5568', lineHeight: 1.55 }}&gt;&#10;                        DRF（10940.9）与 SJF（10503.8）的 P95 JCT 均高于 FIFO（9430.4）。&#10;                        「短任务优先」会饿死大任务 —— 缺乏公平性约束的规则必然产生长尾。&#10;                    &lt;/Text&gt;&#10;                &lt;/Box&gt;&#10;            &lt;/Box&gt;&#10;&#10;            &lt;Box style={{ flex: 1, flexDirection: 'column', gap: 14 }}&gt;&#10;                &lt;Box style={{ flex: 1, background: '#FFFFFF', border: '1px solid #D6DCE5', borderLeft: '4px solid #3D7BD9', borderRadius: 6, padding: '14px 18px', flexDirection: 'column' }}&gt;&#10;                    &lt;Text style={{ fontSize: 24, fontWeight: 'bold', color: '#0E3F8C', marginBottom: 8 }}&gt;② 吞吐与延迟存在明确权衡&lt;/Text&gt;&#10;                    &lt;Text style={{ fontSize: 20, color: '#4A5568', lineHeight: 1.55 }}&gt;&#10;                        FIFO 的 GPU 利用率最高（94.2%）、Makespan 最短（15231），&#10;                        但代价是长任务被大任务阻塞。任何单一目标的优化都必然顾此失彼。&#10;                    &lt;/Text&gt;&#10;                &lt;/Box&gt;&#10;                &lt;Box style={{ flex: 1, background: '#FFFFFF', border: '1px solid #D6DCE5', borderLeft: '4px solid #3D7BD9', borderRadius: 6, padding: '14px 18px', flexDirection: 'column' }}&gt;&#10;                    &lt;Text style={{ fontSize: 24, fontWeight: 'bold', color: '#0E3F8C', marginBottom: 8 }}&gt;④ 异构资源协同存在明显空间&lt;/Text&gt;&#10;                    &lt;Text style={{ fontSize: 20, color: '#4A5568', lineHeight: 1.55 }}&gt;&#10;                        四类算法的 CPU 利用率均仅约 46%，GPU 节点 CPU 与 CPU 节点大量闲置。&#10;                        CPU 密集的预处理任务与 GPU 训练的互补放置，是本项目的切入点之一。&#10;                    &lt;/Text&gt;&#10;                &lt;/Box&gt;&#10;            &lt;/Box&gt;&#10;        &lt;/Box&gt;&#10;&#10;        &lt;Box style={{ height: 120, background: '#1E4FA8', borderRadius: 6, padding: '16px 24px', flexDirection: 'row', alignItems: 'center', gap: 22, marginTop: 'auto' }}&gt;&#10;            &lt;Text style={{ fontSize: 76, fontWeight: 'bold', color: '#FFC107', lineHeight: 1.0 }}&gt;→&lt;/Text&gt;&#10;            &lt;Box style={{ flexDirection: 'column', gap: 6 }}&gt;&#10;                &lt;Text style={{ fontSize: 24, fontWeight: 'bold', color: '#FFFFFF' }}&gt;对 HeteroNexus-DRL 的直接指导&lt;/Text&gt;&#10;                &lt;Text style={{ fontSize: 20, color: '#CFE0F5', lineHeight: 1.5 }}&gt;&#10;                    三条结论指向同一件事：固定规则无法同时优化平均 JCT、P95 长尾与 GPU 利用率。&#10;                    因此&quot;D R L 的价值&quot;不是找一条更聪明的静态规则，而是&lt;span style={{ fontWeight: 'bold', color: '#FFC107' }}&gt;根据实时集群状态动态调整多目标权重&lt;/span&gt;——下一节给出这一判断的量化依据。&#10;                &lt;/Text&gt;&#10;            &lt;/Box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把这组数据读完，我们得到了四条结论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其中</a:t>
            </a:r>
            <a:r>
              <a:rPr lang="zh-CN" sz="1650" b="1">
                <a:solidFill>
                  <a:srgbClr val="B03A37"/>
                </a:solidFill>
                <a:latin typeface="Source Han Sans SC"/>
                <a:ea typeface="Source Han Sans SC"/>
              </a:rPr>
              <a:t>第三条恰恰解释了为什么必须有强化学习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419100" y="1266825"/>
            <a:ext cx="5648325" cy="1476375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419100" y="1266825"/>
            <a:ext cx="5648325" cy="1476375"/>
          </a:xfrm>
          <a:custGeom>
            <a:pathLst>
              <a:path w="593" h="155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3"/>
                </a:lnTo>
                <a:cubicBezTo>
                  <a:pt x="4" y="154"/>
                  <a:pt x="5" y="155"/>
                  <a:pt x="6" y="155"/>
                </a:cubicBezTo>
                <a:cubicBezTo>
                  <a:pt x="3" y="155"/>
                  <a:pt x="0" y="152"/>
                  <a:pt x="0" y="149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90550" y="1400175"/>
            <a:ext cx="5267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①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排序策略是第一影响因子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590550" y="1752600"/>
            <a:ext cx="526732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DRF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平均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JCT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降低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14.2%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、中位降低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54.3%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SJF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分别达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20.5%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66.1%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这一幅度超过绝大多数硬件升级带来的边际收益。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419100" y="2876550"/>
            <a:ext cx="5648325" cy="1819275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419100" y="2876550"/>
            <a:ext cx="5648325" cy="1819275"/>
          </a:xfrm>
          <a:custGeom>
            <a:pathLst>
              <a:path w="593" h="191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89"/>
                </a:lnTo>
                <a:cubicBezTo>
                  <a:pt x="4" y="190"/>
                  <a:pt x="5" y="191"/>
                  <a:pt x="6" y="191"/>
                </a:cubicBezTo>
                <a:cubicBezTo>
                  <a:pt x="3" y="191"/>
                  <a:pt x="0" y="188"/>
                  <a:pt x="0" y="185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90550" y="3009900"/>
            <a:ext cx="5267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B03A37"/>
                </a:solidFill>
                <a:latin typeface="Source Han Sans SC"/>
                <a:ea typeface="Source Han Sans SC"/>
              </a:rPr>
              <a:t>③ </a:t>
            </a:r>
            <a:r>
              <a:rPr lang="zh-CN" sz="1800" b="1">
                <a:solidFill>
                  <a:srgbClr val="B03A37"/>
                </a:solidFill>
                <a:latin typeface="Source Han Sans SC"/>
                <a:ea typeface="Source Han Sans SC"/>
              </a:rPr>
              <a:t>长尾任务是所有基线的共同短板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" y="3362325"/>
            <a:ext cx="5267325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DRF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10940.9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SJF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10503.8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）的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P95 JCT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均高于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FIFO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9430.4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「短任务优先」会饿死大任务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缺乏公平性约束的规则必然产生长尾。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200775" y="1266825"/>
            <a:ext cx="5648325" cy="168592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200775" y="1266825"/>
            <a:ext cx="5648325" cy="1685925"/>
          </a:xfrm>
          <a:custGeom>
            <a:pathLst>
              <a:path w="593" h="17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75"/>
                </a:lnTo>
                <a:cubicBezTo>
                  <a:pt x="4" y="176"/>
                  <a:pt x="5" y="177"/>
                  <a:pt x="6" y="177"/>
                </a:cubicBezTo>
                <a:cubicBezTo>
                  <a:pt x="3" y="177"/>
                  <a:pt x="0" y="174"/>
                  <a:pt x="0" y="17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372225" y="1400175"/>
            <a:ext cx="5267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②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吞吐与延迟存在明确权衡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372225" y="1752600"/>
            <a:ext cx="5267325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FIFO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的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利用率最高（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94.2%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）、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Makespan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最短（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15231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但代价是长任务被大任务阻塞。任何单一目标的优化都必然顾此失彼。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200775" y="3086100"/>
            <a:ext cx="5648325" cy="168592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"/>
          <p:cNvSpPr/>
          <p:nvPr/>
        </p:nvSpPr>
        <p:spPr>
          <a:xfrm rot="0" flipH="0" flipV="0">
            <a:off x="6200775" y="3086100"/>
            <a:ext cx="5648325" cy="1685925"/>
          </a:xfrm>
          <a:custGeom>
            <a:pathLst>
              <a:path w="593" h="177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75"/>
                </a:lnTo>
                <a:cubicBezTo>
                  <a:pt x="4" y="176"/>
                  <a:pt x="5" y="177"/>
                  <a:pt x="6" y="177"/>
                </a:cubicBezTo>
                <a:cubicBezTo>
                  <a:pt x="3" y="177"/>
                  <a:pt x="0" y="174"/>
                  <a:pt x="0" y="171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72225" y="3219450"/>
            <a:ext cx="5267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④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异构资源协同存在明显空间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372225" y="3571875"/>
            <a:ext cx="5267325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四类算法的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利用率均仅约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46%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，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节点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节点大量闲置。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CPU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密集的预处理任务与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训练的互补放置，是本项目的切入点之一。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381000" y="5029200"/>
            <a:ext cx="11430000" cy="1143000"/>
          </a:xfrm>
          <a:prstGeom prst="roundRect">
            <a:avLst>
              <a:gd name="adj" fmla="val 5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5162550"/>
            <a:ext cx="6667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5700" b="1">
                <a:solidFill>
                  <a:srgbClr val="FFC107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485900" y="5095875"/>
            <a:ext cx="10096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Source Han Sans SC"/>
                <a:ea typeface="Source Han Sans SC"/>
              </a:rPr>
              <a:t>对</a:t>
            </a: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 HeteroNexus-DRL </a:t>
            </a:r>
            <a:r>
              <a:rPr lang="zh-CN" sz="1800" b="1">
                <a:solidFill>
                  <a:srgbClr val="FFFFFF"/>
                </a:solidFill>
                <a:latin typeface="Source Han Sans SC"/>
                <a:ea typeface="Source Han Sans SC"/>
              </a:rPr>
              <a:t>的直接指导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485900" y="5429250"/>
            <a:ext cx="10096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三条结论指向同一件事：固定规则无法同时优化平均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 JCT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、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P95 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长尾与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利用率。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因此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"D R L 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的价值</a:t>
            </a:r>
            <a:r>
              <a:rPr lang="en-US" sz="1500">
                <a:solidFill>
                  <a:srgbClr val="CFE0F5"/>
                </a:solidFill>
                <a:latin typeface="Source Han Sans SC"/>
                <a:ea typeface="Source Han Sans SC"/>
              </a:rPr>
              <a:t>"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不是找一条更聪明的静态规则，而是</a:t>
            </a:r>
            <a:r>
              <a:rPr lang="zh-CN" sz="1500" b="1">
                <a:solidFill>
                  <a:srgbClr val="FFC107"/>
                </a:solidFill>
                <a:latin typeface="Source Han Sans SC"/>
                <a:ea typeface="Source Han Sans SC"/>
              </a:rPr>
              <a:t>根据实时集群状态动态调整多目标权重</a:t>
            </a:r>
            <a:r>
              <a:rPr lang="zh-CN" sz="1500">
                <a:solidFill>
                  <a:srgbClr val="CFE0F5"/>
                </a:solidFill>
                <a:latin typeface="Source Han Sans SC"/>
                <a:ea typeface="Source Han Sans SC"/>
              </a:rPr>
              <a:t>——下一节给出这一判断的量化依据。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&lt;Box style={{ height: 48, background: '#0E3F8C', borderRadius: 4, padding: '0 22px', flexDirection: 'row', alignItems: 'center', marginBottom: 14 }}&gt;&#10;            &lt;Text style={{ fontSize: 21, fontWeight: 'bold', color: '#FFFFFF' }}&gt;&#10;                问题：把奖励权重换一换，结果会怎样？我们扫了 36 组配置 —— 结论比预期更有价值。&#10;            &lt;/Text&gt;&#10;        &lt;/Box&gt;&#10;&#10;        {/* 表头 */}&#10;        &lt;Box style={{ flexDirection: 'row', background: '#0E3F8C', height: 42, alignItems: 'center', borderTopLeftRadius: 4, borderTopRightRadius: 4 }}&gt;&#10;            &lt;Text style={{ width: 250, paddingLeft: 18, fontSize: 19, fontWeight: 'bold', color: '#FFFFFF' }}&gt;奖励权重预设&lt;/Text&gt;&#10;            &lt;Text style={{ width: 118, fontSize: 19, fontWeight: 'bold', color: '#FFFFFF', textAlign: 'center' }}&gt;平均 JCT&lt;/Text&gt;&#10;            &lt;Text style={{ width: 118, fontSize: 19, fontWeight: 'bold', color: '#FFFFFF', textAlign: 'center' }}&gt;中位 JCT&lt;/Text&gt;&#10;            &lt;Text style={{ width: 112, fontSize: 19, fontWeight: 'bold', color: '#FFFFFF', textAlign: 'center' }}&gt;P95 JCT&lt;/Text&gt;&#10;            &lt;Text style={{ width: 140, fontSize: 19, fontWeight: 'bold', color: '#FFFFFF', textAlign: 'center' }}&gt;GPU 利用率&lt;/Text&gt;&#10;            &lt;Text style={{ flex: 1, fontSize: 19, fontWeight: 'bold', color: '#FFFFFF' }}&gt;适用场景&lt;/Text&gt;&#10;        &lt;/Box&gt;&#10;&#10;        &lt;Box style={{ flexDirection: 'row', height: 50, alignItems: 'center', background: '#FFF8E1', border: '1px solid #E5E7EB', borderTop: 'none' }}&gt;&#10;            &lt;Box style={{ width: 250, paddingLeft: 18, flexDirection: 'column', justifyContent: 'center' }}&gt;&#10;                &lt;Text style={{ fontSize: 19, fontWeight: 'bold', color: '#1A2230', lineHeight: 1.15 }}&gt;延迟优先&lt;/Text&gt;&#10;                &lt;Text style={{ fontSize: 15, color: '#8B97A8', lineHeight: 1.25 }}&gt;w 0.70/0.05/0.05/0.10/0.10&lt;/Text&gt;&#10;            &lt;/Box&gt;&#10;            &lt;Text style={{ width: 118, fontSize: 19, fontWeight: 'bold', color: '#1E4FA8', textAlign: 'center' }}&gt;−20.4%&lt;/Text&gt;&#10;            &lt;Text style={{ width: 118, fontSize: 19, fontWeight: 'bold', color: '#1E4FA8', textAlign: 'center' }}&gt;−60.3%&lt;/Text&gt;&#10;            &lt;Text style={{ width: 112, fontSize: 19, color: '#4A5568', textAlign: 'center' }}&gt;−2.4%&lt;/Text&gt;&#10;            &lt;Text style={{ width: 140, fontSize: 19, color: '#4A5568', textAlign: 'center' }}&gt;88.5%&lt;/Text&gt;&#10;            &lt;Text style={{ flex: 1, fontSize: 18, color: '#4A5568' }}&gt;交互式训练、调试密集&lt;/Text&gt;&#10;        &lt;/Box&gt;&#10;&#10;        &lt;Box style={{ flexDirection: 'row', height: 50, alignItems: 'center', background: '#FFFFFF', border: '1px solid #E5E7EB', borderTop: 'none' }}&gt;&#10;            &lt;Box style={{ width: 250, paddingLeft: 18, flexDirection: 'column', justifyContent: 'center' }}&gt;&#10;                &lt;Text style={{ fontSize: 19, fontWeight: 'bold', color: '#1A2230', lineHeight: 1.15 }}&gt;吞吐优先&lt;/Text&gt;&#10;                &lt;Text style={{ fontSize: 15, color: '#8B97A8', lineHeight: 1.25 }}&gt;w 0.20/0.45/0.15/0.10/0.10&lt;/Text&gt;&#10;            &lt;/Box&gt;&#10;            &lt;Text style={{ width: 118, fontSize: 19, color: '#B03A37', textAlign: 'center' }}&gt;−1.2%&lt;/Text&gt;&#10;            &lt;Text style={{ width: 118, fontSize: 19, color: '#4A5568', textAlign: 'center' }}&gt;−28.2%&lt;/Text&gt;&#10;            &lt;Text style={{ width: 112, fontSize: 19, color: '#4A5568', textAlign: 'center' }}&gt;−2.2%&lt;/Text&gt;&#10;            &lt;Text style={{ width: 140, fontSize: 19, fontWeight: 'bold', color: '#1E4FA8', textAlign: 'center' }}&gt;92.2%&lt;/Text&gt;&#10;            &lt;Text style={{ flex: 1, fontSize: 18, color: '#4A5568' }}&gt;离线批量训练、成本敏感&lt;/Text&gt;&#10;        &lt;/Box&gt;&#10;&#10;        &lt;Box style={{ flexDirection: 'row', height: 50, alignItems: 'center', background: '#FFFFFF', border: '1px solid #E5E7EB', borderTop: 'none' }}&gt;&#10;            &lt;Box style={{ width: 250, paddingLeft: 18, flexDirection: 'column', justifyContent: 'center' }}&gt;&#10;                &lt;Text style={{ fontSize: 19, fontWeight: 'bold', color: '#1A2230', lineHeight: 1.15 }}&gt;均衡（默认）&lt;/Text&gt;&#10;                &lt;Text style={{ fontSize: 15, color: '#8B97A8', lineHeight: 1.25 }}&gt;w 0.50/0.15/0.05/0.20/0.10&lt;/Text&gt;&#10;            &lt;/Box&gt;&#10;            &lt;Text style={{ width: 118, fontSize: 19, color: '#1E4FA8', textAlign: 'center' }}&gt;−16.2%&lt;/Text&gt;&#10;            &lt;Text style={{ width: 118, fontSize: 19, color: '#1E4FA8', textAlign: 'center' }}&gt;−43.3%&lt;/Text&gt;&#10;            &lt;Text style={{ width: 112, fontSize: 19, color: '#4A5568', textAlign: 'center' }}&gt;−3.1%&lt;/Text&gt;&#10;            &lt;Text style={{ width: 140, fontSize: 19, color: '#4A5568', textAlign: 'center' }}&gt;89.5%&lt;/Text&gt;&#10;            &lt;Text style={{ flex: 1, fontSize: 18, color: '#4A5568' }}&gt;通用默认，兼顾延迟与吞吐&lt;/Text&gt;&#10;        &lt;/Box&gt;&#10;&#10;        &lt;Box style={{ flexDirection: 'row', height: 50, alignItems: 'center', background: '#F7F9FC', border: '1px solid #E5E7EB', borderTop: 'none' }}&gt;&#10;            &lt;Box style={{ width: 250, paddingLeft: 18, flexDirection: 'column', justifyContent: 'center' }}&gt;&#10;                &lt;Text style={{ fontSize: 19, fontWeight: 'bold', color: '#1A2230', lineHeight: 1.15 }}&gt;公平优先&lt;/Text&gt;&#10;                &lt;Text style={{ fontSize: 15, color: '#8B97A8', lineHeight: 1.25 }}&gt;w 0.25/0.10/0.05/0.55/0.05&lt;/Text&gt;&#10;            &lt;/Box&gt;&#10;            &lt;Text style={{ width: 118, fontSize: 19, color: '#1E4FA8', textAlign: 'center' }}&gt;−9.8%&lt;/Text&gt;&#10;            &lt;Text style={{ width: 118, fontSize: 19, color: '#4A5568', textAlign: 'center' }}&gt;−16.5%&lt;/Text&gt;&#10;            &lt;Text style={{ width: 112, fontSize: 19, fontWeight: 'bold', color: '#1E4FA8', textAlign: 'center' }}&gt;−4.1%&lt;/Text&gt;&#10;            &lt;Text style={{ width: 140, fontSize: 19, color: '#4A5568', textAlign: 'center' }}&gt;89.7%&lt;/Text&gt;&#10;            &lt;Text style={{ flex: 1, fontSize: 18, color: '#4A5568' }}&gt;多租户共享、公平分配&lt;/Text&gt;&#10;        &lt;/Box&gt;&#10;&#10;        &lt;Box style={{ flexDirection: 'row', height: 50, alignItems: 'center', background: '#F7F9FC', border: '1px solid #E5E7EB', borderTop: 'none' }}&gt;&#10;            &lt;Box style={{ width: 250, paddingLeft: 18, flexDirection: 'column', justifyContent: 'center' }}&gt;&#10;                &lt;Text style={{ fontSize: 18, color: '#8B97A8', lineHeight: 1.15 }}&gt;参照 SJF 启发式&lt;/Text&gt;&#10;                &lt;Text style={{ fontSize: 15, color: '#8B97A8', lineHeight: 1.25 }}&gt;无奖励函数&lt;/Text&gt;&#10;            &lt;/Box&gt;&#10;            &lt;Text style={{ width: 118, fontSize: 19, color: '#1E4FA8', textAlign: 'center' }}&gt;−20.5%&lt;/Text&gt;&#10;            &lt;Text style={{ width: 118, fontSize: 19, color: '#1E4FA8', textAlign: 'center' }}&gt;−66.1%&lt;/Text&gt;&#10;            &lt;Text style={{ width: 112, fontSize: 19, color: '#4A5568', textAlign: 'center' }}&gt;−3.5%&lt;/Text&gt;&#10;            &lt;Text style={{ width: 140, fontSize: 19, color: '#B03A37', textAlign: 'center' }}&gt;87.7%&lt;/Text&gt;&#10;            &lt;Text style={{ flex: 1, fontSize: 18, color: '#4A5568' }}&gt;延迟最优，牺牲 2.1pt 利用率&lt;/Text&gt;&#10;        &lt;/Box&gt;&#10;&#10;        &lt;Box style={{ flexDirection: 'row', height: 50, alignItems: 'center', background: '#F7F9FC', border: '1px solid #E5E7EB', borderTop: 'none', borderBottomLeftRadius: 4, borderBottomRightRadius: 4 }}&gt;&#10;            &lt;Box style={{ width: 250, paddingLeft: 18, flexDirection: 'column', justifyContent: 'center' }}&gt;&#10;                &lt;Text style={{ fontSize: 18, color: '#8B97A8', lineHeight: 1.15 }}&gt;参照 FIFO 基线&lt;/Text&gt;&#10;                &lt;Text style={{ fontSize: 15, color: '#8B97A8', lineHeight: 1.25 }}&gt;无奖励函数&lt;/Text&gt;&#10;            &lt;/Box&gt;&#10;            &lt;Text style={{ width: 118, fontSize: 19, color: '#4A5568', textAlign: 'center' }}&gt;基准 0%&lt;/Text&gt;&#10;            &lt;Text style={{ width: 118, fontSize: 19, color: '#4A5568', textAlign: 'center' }}&gt;基准 0%&lt;/Text&gt;&#10;            &lt;Text style={{ width: 112, fontSize: 19, color: '#4A5568', textAlign: 'center' }}&gt;基准 0%&lt;/Text&gt;&#10;            &lt;Text style={{ width: 140, fontSize: 19, color: '#4A5568', textAlign: 'center' }}&gt;89.8%&lt;/Text&gt;&#10;            &lt;Text style={{ flex: 1, fontSize: 18, color: '#4A5568' }}&gt;吞吐高，但长任务阻塞严重&lt;/Text&gt;&#10;        &lt;/Box&gt;&#10;&#10;        {/* 巨型结论 */}&#10;        &lt;Box style={{ height: 140, background: '#FFF8E1', borderLeft: '6px solid #FFC107', borderRadius: 6, padding: '14px 24px', flexDirection: 'row', alignItems: 'center', gap: 24, marginTop: 'auto' }}&gt;&#10;            &lt;Text style={{ fontSize: 96, fontWeight: 'bold', color: '#B03A37', lineHeight: 1.0 }}&gt;0&lt;/Text&gt;&#10;            &lt;Box style={{ flexDirection: 'column', gap: 6 }}&gt;&#10;                &lt;Text style={{ fontSize: 24, fontWeight: 'bold', color: '#0E3F8C' }}&gt;&#10;                    36 组权重配置中，&quot;同时最优&quot;的单点数量为 0&#10;                &lt;/Text&gt;&#10;                &lt;Text style={{ fontSize: 20, color: '#4A5568', lineHeight: 1.5 }}&gt;&#10;                    「延迟优先」的 JCT 已追平最优的 SJF，同时 GPU 利用率高出 0.8pt；「吞吐优先」占据利用率端点（92.2%）。&#10;                    四组预设落在&lt;span style={{ fontWeight: 'bold', color: '#0E3F8C' }}&gt;帕累托前沿的不同位置&lt;/span&gt;。&#10;                    既然最优权重随负载特征变化，那么&lt;span style={{ fontWeight: 'bold', color: '#B03A37' }}&gt;「在线选择权重」本身就是一个可学习的策略&lt;/span&gt; —— 这是 DRL 的必要性论证，而非技术偏好。&#10;                &lt;/Text&gt;&#10;            &lt;/Box&gt;&#10;        &lt;/Box&gt;&#10;    &lt;/Box&gt;&#10;&#10;    &lt;Box style={{ height: 60, padding: '0 40px', flexDirection: 'row', alignItems: 'center', justifyContent: 'space-between' }}&gt;&#10;        &lt;Text style={{ fontSize: 14, color: '#8B97A8' }}&gt;权重向量依 w₁ 完成时间 / w₂ 利用率 / w₃ 能耗 / w₄ 公平性 / w₅ 碎片度 顺序 · 相对 FIFO 基线&lt;/Text&gt;&#10;        &lt;Text style={{ fontSize: 14, fontWeight: 'bold', color: '#1E4FA8' }}&gt;11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381000" y="8763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90550" y="981075"/>
            <a:ext cx="77247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问题：把奖励权重换一换，结果会怎样？我们扫了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36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组配置</a:t>
            </a:r>
            <a:r>
              <a:rPr lang="en-US" sz="1575" b="1">
                <a:solidFill>
                  <a:srgbClr val="FFFFFF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75" b="1">
                <a:solidFill>
                  <a:srgbClr val="FFFFFF"/>
                </a:solidFill>
                <a:latin typeface="Source Han Sans SC"/>
                <a:ea typeface="Source Han Sans SC"/>
              </a:rPr>
              <a:t>结论比预期更有价值。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81000" y="1466850"/>
            <a:ext cx="11430000" cy="400050"/>
          </a:xfrm>
          <a:custGeom>
            <a:pathLst>
              <a:path w="1200" h="42">
                <a:moveTo>
                  <a:pt x="4" y="0"/>
                </a:moveTo>
                <a:lnTo>
                  <a:pt x="1196" y="0"/>
                </a:lnTo>
                <a:cubicBezTo>
                  <a:pt x="1198" y="0"/>
                  <a:pt x="1200" y="2"/>
                  <a:pt x="1200" y="4"/>
                </a:cubicBezTo>
                <a:lnTo>
                  <a:pt x="1200" y="42"/>
                </a:lnTo>
                <a:lnTo>
                  <a:pt x="1200" y="42"/>
                </a:lnTo>
                <a:lnTo>
                  <a:pt x="0" y="42"/>
                </a:lnTo>
                <a:lnTo>
                  <a:pt x="0" y="42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1562100"/>
            <a:ext cx="2381250" cy="219075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奖励权重预设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762250" y="15621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平均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JCT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886200" y="15621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中位</a:t>
            </a: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 JCT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010150" y="156210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P95 JCT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76950" y="156210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ource Han Sans SC"/>
                <a:ea typeface="Source Han Sans SC"/>
              </a:rPr>
              <a:t>GPU </a:t>
            </a: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利用率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410450" y="1562100"/>
            <a:ext cx="4400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适用场景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1866900"/>
            <a:ext cx="11430000" cy="476250"/>
          </a:xfrm>
          <a:prstGeom prst="rect">
            <a:avLst/>
          </a:prstGeom>
          <a:solidFill>
            <a:srgbClr val="FFF8E1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52450" y="186690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425" b="1">
                <a:solidFill>
                  <a:srgbClr val="1A2230"/>
                </a:solidFill>
                <a:latin typeface="Source Han Sans SC"/>
                <a:ea typeface="Source Han Sans SC"/>
              </a:rPr>
              <a:t>延迟优先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52450" y="212407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w 0.70/0.05/0.05/0.10/0.10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2762250" y="20002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Source Han Sans SC"/>
                <a:ea typeface="Source Han Sans SC"/>
              </a:rPr>
              <a:t>−20.4%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886200" y="20002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Source Han Sans SC"/>
                <a:ea typeface="Source Han Sans SC"/>
              </a:rPr>
              <a:t>−60.3%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010150" y="200025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−2.4%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76950" y="200025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88.5%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410450" y="200025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交互式训练、调试密集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81000" y="2343150"/>
            <a:ext cx="11430000" cy="47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552450" y="234315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425" b="1">
                <a:solidFill>
                  <a:srgbClr val="1A2230"/>
                </a:solidFill>
                <a:latin typeface="Source Han Sans SC"/>
                <a:ea typeface="Source Han Sans SC"/>
              </a:rPr>
              <a:t>吞吐优先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52450" y="260032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w 0.20/0.45/0.15/0.10/0.10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762250" y="24765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B03A37"/>
                </a:solidFill>
                <a:latin typeface="Source Han Sans SC"/>
                <a:ea typeface="Source Han Sans SC"/>
              </a:rPr>
              <a:t>−1.2%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886200" y="24765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−28.2%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010150" y="247650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−2.2%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76950" y="247650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Source Han Sans SC"/>
                <a:ea typeface="Source Han Sans SC"/>
              </a:rPr>
              <a:t>92.2%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410450" y="24765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离线批量训练、成本敏感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2819400"/>
            <a:ext cx="11430000" cy="476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52450" y="281940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425" b="1">
                <a:solidFill>
                  <a:srgbClr val="1A2230"/>
                </a:solidFill>
                <a:latin typeface="Source Han Sans SC"/>
                <a:ea typeface="Source Han Sans SC"/>
              </a:rPr>
              <a:t>均衡（默认）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52450" y="307657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w 0.50/0.15/0.05/0.20/0.10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2762250" y="29527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Source Han Sans SC"/>
                <a:ea typeface="Source Han Sans SC"/>
              </a:rPr>
              <a:t>−16.2%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86200" y="29527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Source Han Sans SC"/>
                <a:ea typeface="Source Han Sans SC"/>
              </a:rPr>
              <a:t>−43.3%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010150" y="295275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−3.1%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6076950" y="295275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89.5%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410450" y="295275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通用默认，兼顾延迟与吞吐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1000" y="3295650"/>
            <a:ext cx="11430000" cy="4762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52450" y="3295650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425" b="1">
                <a:solidFill>
                  <a:srgbClr val="1A2230"/>
                </a:solidFill>
                <a:latin typeface="Source Han Sans SC"/>
                <a:ea typeface="Source Han Sans SC"/>
              </a:rPr>
              <a:t>公平优先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52450" y="3552825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1125">
                <a:solidFill>
                  <a:srgbClr val="8B97A8"/>
                </a:solidFill>
                <a:latin typeface="Source Han Sans SC"/>
                <a:ea typeface="Source Han Sans SC"/>
              </a:rPr>
              <a:t>w 0.25/0.10/0.05/0.55/0.05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2762250" y="34290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Source Han Sans SC"/>
                <a:ea typeface="Source Han Sans SC"/>
              </a:rPr>
              <a:t>−9.8%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886200" y="34290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−16.5%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010150" y="342900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b="1">
                <a:solidFill>
                  <a:srgbClr val="1E4FA8"/>
                </a:solidFill>
                <a:latin typeface="Source Han Sans SC"/>
                <a:ea typeface="Source Han Sans SC"/>
              </a:rPr>
              <a:t>−4.1%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76950" y="342900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89.7%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410450" y="34290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多租户共享、公平分配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3771900"/>
            <a:ext cx="11430000" cy="47625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52450" y="378142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350">
                <a:solidFill>
                  <a:srgbClr val="8B97A8"/>
                </a:solidFill>
                <a:latin typeface="Source Han Sans SC"/>
                <a:ea typeface="Source Han Sans SC"/>
              </a:rPr>
              <a:t>参照</a:t>
            </a:r>
            <a:r>
              <a:rPr lang="en-US" sz="1350">
                <a:solidFill>
                  <a:srgbClr val="8B97A8"/>
                </a:solidFill>
                <a:latin typeface="Source Han Sans SC"/>
                <a:ea typeface="Source Han Sans SC"/>
              </a:rPr>
              <a:t> SJF </a:t>
            </a:r>
            <a:r>
              <a:rPr lang="zh-CN" sz="1350">
                <a:solidFill>
                  <a:srgbClr val="8B97A8"/>
                </a:solidFill>
                <a:latin typeface="Source Han Sans SC"/>
                <a:ea typeface="Source Han Sans SC"/>
              </a:rPr>
              <a:t>启发式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52450" y="401955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无奖励函数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762250" y="39052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Source Han Sans SC"/>
                <a:ea typeface="Source Han Sans SC"/>
              </a:rPr>
              <a:t>−20.5%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3886200" y="390525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1E4FA8"/>
                </a:solidFill>
                <a:latin typeface="Source Han Sans SC"/>
                <a:ea typeface="Source Han Sans SC"/>
              </a:rPr>
              <a:t>−66.1%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010150" y="390525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−3.5%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76950" y="390525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B03A37"/>
                </a:solidFill>
                <a:latin typeface="Source Han Sans SC"/>
                <a:ea typeface="Source Han Sans SC"/>
              </a:rPr>
              <a:t>87.7%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410450" y="390525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延迟最优，牺牲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2.1pt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利用率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4248150"/>
            <a:ext cx="11430000" cy="476250"/>
          </a:xfrm>
          <a:custGeom>
            <a:pathLst>
              <a:path w="1200" h="50">
                <a:moveTo>
                  <a:pt x="0" y="0"/>
                </a:moveTo>
                <a:lnTo>
                  <a:pt x="1200" y="0"/>
                </a:lnTo>
                <a:lnTo>
                  <a:pt x="1200" y="0"/>
                </a:lnTo>
                <a:lnTo>
                  <a:pt x="1200" y="46"/>
                </a:lnTo>
                <a:cubicBezTo>
                  <a:pt x="1200" y="48"/>
                  <a:pt x="1198" y="50"/>
                  <a:pt x="1196" y="50"/>
                </a:cubicBezTo>
                <a:lnTo>
                  <a:pt x="4" y="50"/>
                </a:lnTo>
                <a:cubicBezTo>
                  <a:pt x="2" y="50"/>
                  <a:pt x="0" y="48"/>
                  <a:pt x="0" y="46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52450" y="4257675"/>
            <a:ext cx="2209800" cy="2381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1350">
                <a:solidFill>
                  <a:srgbClr val="8B97A8"/>
                </a:solidFill>
                <a:latin typeface="Source Han Sans SC"/>
                <a:ea typeface="Source Han Sans SC"/>
              </a:rPr>
              <a:t>参照</a:t>
            </a:r>
            <a:r>
              <a:rPr lang="en-US" sz="1350">
                <a:solidFill>
                  <a:srgbClr val="8B97A8"/>
                </a:solidFill>
                <a:latin typeface="Source Han Sans SC"/>
                <a:ea typeface="Source Han Sans SC"/>
              </a:rPr>
              <a:t> FIFO </a:t>
            </a:r>
            <a:r>
              <a:rPr lang="zh-CN" sz="1350">
                <a:solidFill>
                  <a:srgbClr val="8B97A8"/>
                </a:solidFill>
                <a:latin typeface="Source Han Sans SC"/>
                <a:ea typeface="Source Han Sans SC"/>
              </a:rPr>
              <a:t>基线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52450" y="4495800"/>
            <a:ext cx="2209800" cy="2190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1125">
                <a:solidFill>
                  <a:srgbClr val="8B97A8"/>
                </a:solidFill>
                <a:latin typeface="Source Han Sans SC"/>
                <a:ea typeface="Source Han Sans SC"/>
              </a:rPr>
              <a:t>无奖励函数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762250" y="43815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基准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0%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86200" y="4381500"/>
            <a:ext cx="112395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基准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0%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010150" y="4381500"/>
            <a:ext cx="10668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基准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0%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76950" y="4381500"/>
            <a:ext cx="1333500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89.8%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410450" y="43815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吞吐高，但长任务阻塞严重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38150" y="4838700"/>
            <a:ext cx="11430000" cy="1333500"/>
          </a:xfrm>
          <a:prstGeom prst="roundRect">
            <a:avLst>
              <a:gd name="adj" fmla="val 4286"/>
            </a:avLst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438150" y="4838700"/>
            <a:ext cx="11430000" cy="1333500"/>
          </a:xfrm>
          <a:custGeom>
            <a:pathLst>
              <a:path w="1200" h="140">
                <a:moveTo>
                  <a:pt x="6" y="140"/>
                </a:moveTo>
                <a:cubicBezTo>
                  <a:pt x="3" y="140"/>
                  <a:pt x="0" y="137"/>
                  <a:pt x="0" y="134"/>
                </a:cubicBezTo>
                <a:lnTo>
                  <a:pt x="0" y="6"/>
                </a:lnTo>
                <a:cubicBezTo>
                  <a:pt x="0" y="4"/>
                  <a:pt x="1" y="3"/>
                  <a:pt x="2" y="2"/>
                </a:cubicBezTo>
                <a:cubicBezTo>
                  <a:pt x="3" y="1"/>
                  <a:pt x="4" y="0"/>
                  <a:pt x="6" y="0"/>
                </a:cubicBezTo>
                <a:lnTo>
                  <a:pt x="6" y="14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66750" y="4953000"/>
            <a:ext cx="4572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B03A37"/>
                </a:solidFill>
                <a:latin typeface="Source Han Sans SC"/>
                <a:ea typeface="Source Han Sans SC"/>
              </a:rPr>
              <a:t>0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352550" y="4829175"/>
            <a:ext cx="10229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36 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组权重配置中，</a:t>
            </a: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同时最优</a:t>
            </a: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"</a:t>
            </a: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的单点数量为</a:t>
            </a:r>
            <a:r>
              <a:rPr lang="en-US" sz="1800" b="1">
                <a:solidFill>
                  <a:srgbClr val="0E3F8C"/>
                </a:solidFill>
                <a:latin typeface="Source Han Sans SC"/>
                <a:ea typeface="Source Han Sans SC"/>
              </a:rPr>
              <a:t> 0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352550" y="5162550"/>
            <a:ext cx="1022985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「延迟优先」的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JCT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已追平最优的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SJF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，同时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GPU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利用率高出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0.8pt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；「吞吐优先」占据利用率端点（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92.2%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）。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四组预设落在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帕累托前沿的不同位置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既然最优权重随负载特征变化，那么</a:t>
            </a:r>
            <a:r>
              <a:rPr lang="zh-CN" sz="1500" b="1">
                <a:solidFill>
                  <a:srgbClr val="B03A37"/>
                </a:solidFill>
                <a:latin typeface="Source Han Sans SC"/>
                <a:ea typeface="Source Han Sans SC"/>
              </a:rPr>
              <a:t>「在线选择权重」本身就是一个可学习的策略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这是</a:t>
            </a:r>
            <a:r>
              <a:rPr lang="en-US" sz="1500">
                <a:solidFill>
                  <a:srgbClr val="4A5568"/>
                </a:solidFill>
                <a:latin typeface="Source Han Sans SC"/>
                <a:ea typeface="Source Han Sans SC"/>
              </a:rPr>
              <a:t> DRL </a:t>
            </a:r>
            <a:r>
              <a:rPr lang="zh-CN" sz="1500">
                <a:solidFill>
                  <a:srgbClr val="4A5568"/>
                </a:solidFill>
                <a:latin typeface="Source Han Sans SC"/>
                <a:ea typeface="Source Han Sans SC"/>
              </a:rPr>
              <a:t>的必要性论证，而非技术偏好。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537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权重向量依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w₁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完成时间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/ w₂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利用率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/ w₃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能耗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/ w₄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公平性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/ w₅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碎片度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顺序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相对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FIFO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基线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3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2 · 第一季度工作进展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4 }}&gt;&#10;            上面的结论如果只写在 PPT 里，老师只能选择相信或不相信。所以我们做了一件更实在的事 ——&#10;            &lt;span style={{ fontWeight: 'bold', color: '#0E3F8C' }}&gt;把实验过程做成了可以现场操作的软件&lt;/span&gt;。&#10;        &lt;/Text&gt;&#10;&#10;        &lt;Box style={{ flexDirection: 'row', gap: 18, height: 400, marginBottom: 14 }}&gt;&#10;            {/* 左：控制台线框 SVG */}&#10;            &lt;Box style={{ width: 660, background: '#F7F9FC', borderRadius: 6, padding: 14 }}&gt;&#10;                &lt;svg width={632} height={372} viewBox='0 0 632 372'&gt;&#10;                    &lt;rect x='0' y='0' width='632' height='372' rx='6' fill='#0A0E14' /&gt;&#10;                    &lt;rect x='0' y='0' width='632' height='34' rx='6' fill='#111823' /&gt;&#10;                    &lt;circle cx='16' cy='17' r='4' fill='#EF4444' /&gt;&#10;                    &lt;circle cx='30' cy='17' r='4' fill='#F59E0B' /&gt;&#10;                    &lt;circle cx='44' cy='17' r='4' fill='#10B981' /&gt;&#10;                    &lt;text x='66' y='21' fill='#E6EDF3' fontSize='11' fontFamily='monospace'&gt;HeteroNexus Console · 实时调度数字孪生&lt;/text&gt;&#10;                    &lt;rect x='470' y='9' width='146' height='17' rx='8' fill='#10B98122' stroke='#10B98166' /&gt;&#10;                    &lt;text x='482' y='21' fill='#10B981' fontSize='9' fontFamily='monospace'&gt;DRL · 均衡 · 200 tasks&lt;/text&gt;&#10;&#10;                    &lt;rect x='10' y='44' width='96' height='42' rx='4' fill='#111823' stroke='#1D2836' /&gt;&#10;                    &lt;text x='20' y='60' fill='#8697A8' fontSize='8' fontFamily='monospace'&gt;GPU 利用率&lt;/text&gt;&#10;                    &lt;text x='20' y='78' fill='#F59E0B' fontSize='16' fontFamily='monospace' fontWeight='bold'&gt;95.8%&lt;/text&gt;&#10;                    &lt;rect x='112' y='44' width='96' height='42' rx='4' fill='#111823' stroke='#1D2836' /&gt;&#10;                    &lt;text x='122' y='60' fill='#8697A8' fontSize='8' fontFamily='monospace'&gt;CPU 利用率&lt;/text&gt;&#10;                    &lt;text x='122' y='78' fill='#22D3EE' fontSize='16' fontFamily='monospace' fontWeight='bold'&gt;49.3%&lt;/text&gt;&#10;                    &lt;rect x='214' y='44' width='96' height='42' rx='4' fill='#111823' stroke='#1D2836' /&gt;&#10;                    &lt;text x='224' y='60' fill='#8697A8' fontSize='8' fontFamily='monospace'&gt;平均 JCT&lt;/text&gt;&#10;                    &lt;text x='224' y='78' fill='#E6EDF3' fontSize='16' fontFamily='monospace' fontWeight='bold'&gt;262&lt;/text&gt;&#10;                    &lt;rect x='316' y='44' width='96' height='42' rx='4' fill='#111823' stroke='#1D2836' /&gt;&#10;                    &lt;text x='326' y='60' fill='#8697A8' fontSize='8' fontFamily='monospace'&gt;已完成&lt;/text&gt;&#10;                    &lt;text x='326' y='78' fill='#10B981' fontSize='16' fontFamily='monospace' fontWeight='bold'&gt;18/200&lt;/text&gt;&#10;                    &lt;rect x='418' y='44' width='96' height='42' rx='4' fill='#111823' stroke='#1D2836' /&gt;&#10;                    &lt;text x='428' y='60' fill='#8697A8' fontSize='8' fontFamily='monospace'&gt;等待队列&lt;/text&gt;&#10;                    &lt;text x='428' y='78' fill='#E6EDF3' fontSize='16' fontFamily='monospace' fontWeight='bold'&gt;7&lt;/text&gt;&#10;                    &lt;rect x='520' y='44' width='102' height='42' rx='4' fill='#111823' stroke='#1D2836' /&gt;&#10;                    &lt;text x='530' y='60' fill='#8697A8' fontSize='8' fontFamily='monospace'&gt;Makespan&lt;/text&gt;&#10;                    &lt;text x='530' y='78' fill='#E6EDF3' fontSize='16' fontFamily='monospace' fontWeight='bold'&gt;735&lt;/text&gt;&#10;&#10;                    &lt;rect x='10' y='94' width='410' height='128' rx='4' fill='#111823' stroke='#1D2836' /&gt;&#10;                    &lt;text x='20' y='108' fill='#8697A8' fontSize='9' fontFamily='monospace'&gt;集群资源拓扑 · 实时占用&lt;/text&gt;&#10;                    &lt;rect x='20' y='116' width='126' height='46' rx='4' fill='#0D141D' stroke='#F59E0B44' /&gt;&#10;                    &lt;text x='28' y='130' fill='#E6EDF3' fontSize='8' fontFamily='monospace'&gt;gpu-node-1&lt;/text&gt;&#10;                    &lt;rect x='28' y='136' width='12' height='15' rx='2' fill='#F59E0B' /&gt;&#10;                    &lt;rect x='43' y='136' width='12' height='15' rx='2' fill='#F59E0B' /&gt;&#10;                    &lt;rect x='58' y='136' width='12' height='15' rx='2' fill='#F59E0B' /&gt;&#10;                    &lt;rect x='73' y='136' width='12' height='15' rx='2' fill='#F59E0B' /&gt;&#10;                    &lt;rect x='88' y='136' width='12' height='15' rx='2' fill='#1A2432' stroke='#26344A' /&gt;&#10;                    &lt;rect x='103' y='136' width='12' height='15' rx='2' fill='#1A2432' stroke='#26344A' /&gt;&#10;                    &lt;rect x='156' y='116' width='126' height='46' rx='4' fill='#0D141D' stroke='#F59E0B44' /&gt;&#10;                    &lt;text x='164' y='130' fill='#E6EDF3' fontSize='8' fontFamily='monospace'&gt;gpu-node-2&lt;/text&gt;&#10;                    &lt;rect x='164' y='136' width='12' height='15' rx='2' fill='#F59E0B' /&gt;&#10;                    &lt;rect x='179' y='136' width='12' height='15' rx='2' fill='#F59E0B' /&gt;&#10;                    &lt;rect x='194' y='136' width='12' height='15' rx='2' fill='#1A2432' stroke='#26344A' /&gt;&#10;                    &lt;rect x='209' y='136' width='12' height='15' rx='2' fill='#1A2432' stroke='#26344A' /&gt;&#10;                    &lt;rect x='224' y='136' width='12' height='15' rx='2' fill='#1A2432' stroke='#26344A' /&gt;&#10;                    &lt;rect x='239' y='136' width='12' height='15' rx='2' fill='#1A2432' stroke='#26344A' /&gt;&#10;                    &lt;rect x='292' y='116' width='118' height='46' rx='4' fill='#0D141D' stroke='#F59E0B44' /&gt;&#10;                    &lt;text x='300' y='130' fill='#E6EDF3' fontSize='8' fontFamily='monospace'&gt;gpu-node-3&lt;/text&gt;&#10;                    &lt;rect x='300' y='136' width='12' height='15' rx='2' fill='#F59E0B' /&gt;&#10;                    &lt;rect x='315' y='136' width='12' height='15' rx='2' fill='#1A2432' stroke='#26344A' /&gt;&#10;                    &lt;rect x='330' y='136' width='12' height='15' rx='2' fill='#1A2432' stroke='#26344A' /&gt;&#10;                    &lt;rect x='345' y='136' width='12' height='15' rx='2' fill='#1A2432' stroke='#26344A' /&gt;&#10;                    &lt;rect x='20' y='168' width='126' height='46' rx='4' fill='#0D141D' stroke='#22D3EE44' /&gt;&#10;                    &lt;text x='28' y='182' fill='#8697A8' fontSize='8' fontFamily='monospace'&gt;cpu-node-1&lt;/text&gt;&#10;                    &lt;rect x='28' y='188' width='110' height='5' rx='2' fill='#1A2432' /&gt;&#10;                    &lt;rect x='28' y='188' width='46' height='5' rx='2' fill='#22D3EE' /&gt;&#10;                    &lt;rect x='28' y='199' width='110' height='5' rx='2' fill='#1A2432' /&gt;&#10;                    &lt;rect x='28' y='199' width='31' height='5' rx='2' fill='#A78BFA' /&gt;&#10;                    &lt;rect x='156' y='168' width='126' height='46' rx='4' fill='#0D141D' stroke='#22D3EE44' /&gt;&#10;                    &lt;text x='164' y='182' fill='#8697A8' fontSize='8' fontFamily='monospace'&gt;cpu-node-2&lt;/text&gt;&#10;                    &lt;rect x='164' y='188' width='110' height='5' rx='2' fill='#1A2432' /&gt;&#10;                    &lt;rect x='164' y='188' width='72' height='5' rx='2' fill='#22D3EE' /&gt;&#10;                    &lt;rect x='164' y='199' width='110' height='5' rx='2' fill='#1A2432' /&gt;&#10;                    &lt;rect x='164' y='199' width='54' height='5' rx='2' fill='#A78BFA' /&gt;&#10;                    &lt;rect x='292' y='168' width='118' height='46' rx='4' fill='#0D141D' stroke='#22D3EE44' /&gt;&#10;                    &lt;text x='300' y='182' fill='#8697A8' fontSize='8' fontFamily='monospace'&gt;cpu-node-3&lt;/text&gt;&#10;                    &lt;rect x='300' y='188' width='102' height='5' rx='2' fill='#1A2432' /&gt;&#10;                    &lt;rect x='300' y='188' width='28' height='5' rx='2' fill='#22D3EE' /&gt;&#10;                    &lt;rect x='300' y='199' width='102' height='5' rx='2' fill='#1A2432' /&gt;&#10;                    &lt;rect x='300' y='199' width='18' height='5' rx='2' fill='#A78BFA' /&gt;&#10;&#10;                    &lt;rect x='428' y='94' width='194' height='128' rx='4' fill='#111823' stroke='#1D2836' /&gt;&#10;                    &lt;text x='438' y='108' fill='#8697A8' fontSize='9' fontFamily='monospace'&gt;调度决策日志&lt;/text&gt;&#10;                    &lt;rect x='438' y='114' width='174' height='14' rx='2' fill='#22D3EE22' /&gt;&#10;                    &lt;rect x='438' y='132' width='174' height='14' rx='2' fill='#3B82F622' /&gt;&#10;                    &lt;rect x='438' y='150' width='174' height='14' rx='2' fill='#A78BFA22' /&gt;&#10;                    &lt;rect x='438' y='168' width='174' height='14' rx='2' fill='#F59E0B22' /&gt;&#10;                    &lt;rect x='438' y='186' width='174' height='14' rx='2' fill='#3B82F622' /&gt;&#10;&#10;                    &lt;rect x='10' y='230' width='410' height='72' rx='4' fill='#111823' stroke='#1D2836' /&gt;&#10;                    &lt;text x='20' y='244' fill='#8697A8' fontSize='9' fontFamily='monospace'&gt;GPU / 节点分配甘特图&lt;/text&gt;&#10;                    &lt;rect x='20' y='250' width='54' height='10' rx='2' fill='#22D3EE' /&gt;&#10;                    &lt;rect x='78' y='250' width='120' height='10' rx='2' fill='#3B82F6' /&gt;&#10;                    &lt;rect x='202' y='250' width='180' height='10' rx='2' fill='#F59E0B' /&gt;&#10;                    &lt;rect x='30' y='264' width='92' height='10' rx='2' fill='#3B82F6' /&gt;&#10;                    &lt;rect x='126' y='264' width='160' height='10' rx='2' fill='#A78BFA' /&gt;&#10;                    &lt;rect x='290' y='264' width='96' height='10' rx='2' fill='#F59E0B' /&gt;&#10;                    &lt;rect x='20' y='278' width='70' height='10' rx='2' fill='#22D3EE' /&gt;&#10;                    &lt;rect x='94' y='278' width='130' height='10' rx='2' fill='#3B82F6' /&gt;&#10;                    &lt;rect x='228' y='278' width='150' height='10' rx='2' fill='#F59E0B' /&gt;&#10;&#10;                    &lt;rect x='428' y='230' width='194' height='72' rx='4' fill='#111823' stroke='#1D2836' /&gt;&#10;                    &lt;text x='438' y='244' fill='#8697A8' fontSize='9' fontFamily='monospace'&gt;奖励权重 · 实时调节&lt;/text&gt;&#10;                    &lt;text x='438' y='262' fill='#8B97A8' fontSize='7.5' fontFamily='monospace'&gt;w1 完成时间&lt;/text&gt;&#10;                    &lt;rect x='438' y='266' width='174' height='4' rx='2' fill='#1A2432' /&gt;&#10;                    &lt;rect x='438' y='266' width='87' height='4' rx='2' fill='#3B82F6' /&gt;&#10;                    &lt;text x='438' y='282' fill='#8B97A8' fontSize='7.5' fontFamily='monospace'&gt;w2 利用率&lt;/text&gt;&#10;                    &lt;rect x='438' y='286' width='174' height='4' rx='2' fill='#1A2432' /&gt;&#10;                    &lt;rect x='438' y='286' width='26' height='4' rx='2' fill='#3B82F6' /&gt;&#10;&#10;                    &lt;rect x='10' y='310' width='612' height='52' rx='4' fill='#111823' stroke='#1D2836' /&gt;&#10;                    &lt;text x='20' y='324' fill='#8697A8' fontSize='9' fontFamily='monospace'&gt;资源利用率 &amp;amp; 队列长度时序&lt;/text&gt;&#10;                    &lt;path d='M20 352 L90 344 L160 330 L230 322 L300 328 L370 316 L440 320 L510 312 L600 318' stroke='#F59E0B' strokeWidth='2' fill='none' /&gt;&#10;                    &lt;path d='M20 356 L90 352 L160 348 L230 344 L300 346 L370 340 L440 342 L510 338 L600 340' stroke='#22D3EE' strokeWidth='2' fill='none' /&gt;&#10;                    &lt;path d='M20 358 L90 350 L160 356 L230 348 L300 354 L370 346 L440 352 L510 344 L600 350' stroke='#8697A8' strokeWidth='1.5' fill='none' /&gt;&#10;                &lt;/svg&gt;&#10;            &lt;/Box&gt;&#10;&#10;            {/* 右：说明 */}&#10;            &lt;Box style={{ flex: 1, flexDirection: 'column', gap: 12 }}&gt;&#10;                &lt;Text style={{ fontSize: 26, fontWeight: 'bold', color: '#0E3F8C' }}&gt;调度控制台 v1.0 · 数字孪生&lt;/Text&gt;&#10;                &lt;Text style={{ fontSize: 19, color: '#4A5568', lineHeight: 1.55 }}&gt;&#10;                    这是一个&lt;span style={{ fontWeight: 'bold', color: '#1E4FA8' }}&gt;单文件、零依赖、完全离线&lt;/span&gt;的网页应用，&#10;                    双击即可运行，不依赖任何服务器或网络环境。&#10;                    &lt;br /&gt;&#10;                    它把仿真引擎搬到了浏览器里：左侧是 6 个异构节点的实时占用视图，中间是调度决策的甘特图，&#10;                    底部是利用率与队列长度的实时曲线。&#10;                &lt;/Text&gt;&#10;                &lt;Box style={{ background: '#F0F5FC', borderRadius: 6, padding: '12px 16px', flexDirection: 'column', gap: 7 }}&gt;&#10;                    &lt;Text style={{ fontSize: 18, fontWeight: 'bold', color: '#0E3F8C' }}&gt;现场可以演示的三件事&lt;/Text&gt;&#10;                    &lt;Text style={{ fontSize: 18, color: '#4A5568', lineHeight: 1.45 }}&gt;&#10;                        · 切换 FIFO / DRF / SJF，观察指标实时变化；&#10;                        &lt;br /&gt;&#10;                        · 拖动奖励权重滑块，观察 JCT 与利用率的权衡；&#10;                        &lt;br /&gt;&#10;                        · 点击「离线评估」，自动生成帕累托对比表。&#10;                    &lt;/Text&gt;&#10;                &lt;/Box&gt;&#10;                &lt;Text style={{ fontSize: 18, color: '#8B97A8', marginTop: 'auto' }}&gt;&#10;                    所有数字均由真实仿真引擎实时算出，非预置动画。&#10;                &lt;/Text&gt;&#10;            &lt;/Box&gt;&#10;        &lt;/Box&gt;&#10;&#10;        &lt;Box style={{ height: 48, background: '#E8EFF8', borderLeft: '4px solid #FFC107', borderRadius: 4, padding: '0 20px', flexDirection: 'row', alignItems: 'center', marginTop: 'auto' }}&gt;&#10;            &lt;Text style={{ fontSize: 20, color: '#1A2230' }}&gt;&#10;                这一页的意义是：&lt;span style={{ fontWeight: 'bold', color: '#0E3F8C' }}&gt;结论可以被质疑，也可以被当场复现&lt;/span&gt; —— 我们更愿意把证据交到老师手上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console/index.html · GitHub 仓库可直接获取&lt;/Text&gt;&#10;        &lt;Text style={{ fontSize: 14, fontWeight: 'bold', color: '#1E4FA8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200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02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第一季度工作进展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上面的结论如果只写在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PPT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里，老师只能选择相信或不相信。所以我们做了一件更实在的事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——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把实验过程做成了可以现场操作的软件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1514475"/>
            <a:ext cx="6286500" cy="3810000"/>
          </a:xfrm>
          <a:prstGeom prst="roundRect">
            <a:avLst>
              <a:gd name="adj" fmla="val 1500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14350" y="1647825"/>
            <a:ext cx="6019800" cy="3543300"/>
          </a:xfrm>
          <a:prstGeom prst="rect">
            <a:avLst/>
          </a:prstGeom>
          <a:ln/>
        </p:spPr>
      </p:pic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38950" y="1514475"/>
            <a:ext cx="4972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调度控制台</a:t>
            </a:r>
            <a:r>
              <a:rPr lang="en-US" sz="1950" b="1">
                <a:solidFill>
                  <a:srgbClr val="0E3F8C"/>
                </a:solidFill>
                <a:latin typeface="Source Han Sans SC"/>
                <a:ea typeface="Source Han Sans SC"/>
              </a:rPr>
              <a:t> v1.0 · </a:t>
            </a:r>
            <a:r>
              <a:rPr lang="zh-CN" sz="1950" b="1">
                <a:solidFill>
                  <a:srgbClr val="0E3F8C"/>
                </a:solidFill>
                <a:latin typeface="Source Han Sans SC"/>
                <a:ea typeface="Source Han Sans SC"/>
              </a:rPr>
              <a:t>数字孪生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838950" y="1933575"/>
            <a:ext cx="4972050" cy="1685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这是一个</a:t>
            </a:r>
            <a:r>
              <a:rPr lang="zh-CN" sz="1425" b="1">
                <a:solidFill>
                  <a:srgbClr val="1E4FA8"/>
                </a:solidFill>
                <a:latin typeface="Source Han Sans SC"/>
                <a:ea typeface="Source Han Sans SC"/>
              </a:rPr>
              <a:t>单文件、零依赖、完全离线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的网页应用，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双击即可运行，不依赖任何服务器或网络环境。</a:t>
            </a:r>
            <a:endParaRPr/>
          </a:p>
          <a:p>
            <a:pPr>
              <a:lnSpc>
                <a:spcPct val="155000"/>
              </a:lnSpc>
            </a:pP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它把仿真引擎搬到了浏览器里：左侧是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6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个异构节点的实时占用视图，中间是调度决策的甘特图，</a:t>
            </a:r>
            <a:r>
              <a:rPr lang="en-US" sz="1425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425">
                <a:solidFill>
                  <a:srgbClr val="4A5568"/>
                </a:solidFill>
                <a:latin typeface="Source Han Sans SC"/>
                <a:ea typeface="Source Han Sans SC"/>
              </a:rPr>
              <a:t>底部是利用率与队列长度的实时曲线。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838950" y="3733800"/>
            <a:ext cx="4972050" cy="1400175"/>
          </a:xfrm>
          <a:prstGeom prst="roundRect">
            <a:avLst>
              <a:gd name="adj" fmla="val 40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991350" y="3848100"/>
            <a:ext cx="466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现场可以演示的三件事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991350" y="4124325"/>
            <a:ext cx="4667250" cy="8953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切换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FIFO / DRF / SJF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，观察指标实时变化；</a:t>
            </a:r>
            <a:endParaRPr/>
          </a:p>
          <a:p>
            <a:pPr>
              <a:lnSpc>
                <a:spcPct val="14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拖动奖励权重滑块，观察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JCT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与利用率的权衡；</a:t>
            </a:r>
            <a:endParaRPr/>
          </a:p>
          <a:p>
            <a:pPr>
              <a:lnSpc>
                <a:spcPct val="14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·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点击「离线评估」，自动生成帕累托对比表。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38950" y="5248275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Source Han Sans SC"/>
                <a:ea typeface="Source Han Sans SC"/>
              </a:rPr>
              <a:t>所有数字均由真实仿真引擎实时算出，非预置动画。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419100" y="5715000"/>
            <a:ext cx="11430000" cy="4572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419100" y="5715000"/>
            <a:ext cx="11430000" cy="457200"/>
          </a:xfrm>
          <a:custGeom>
            <a:pathLst>
              <a:path w="1200" h="48">
                <a:moveTo>
                  <a:pt x="4" y="48"/>
                </a:moveTo>
                <a:cubicBezTo>
                  <a:pt x="2" y="48"/>
                  <a:pt x="0" y="46"/>
                  <a:pt x="0" y="4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4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5829300"/>
            <a:ext cx="7829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这一页的意义是：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结论可以被质疑，也可以被当场复现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我们更愿意把证据交到老师手上。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714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console/index.html · GitHub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仓库可直接获取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2" name="" descr="&lt;Slide style={{ width: 1280, height: 720, padding: 0, position: 'relative', background: 'linear-gradient(135deg, #0E3F8C 0%, #1E4FA8 100%)', fontFamily: '&quot;Source Han Sans SC&quot;,&quot;Noto Sans SC&quot;,&quot;Microsoft YaHei&quot;,sans-serif' }}&gt;&#10;    &lt;Box style={{ position: 'absolute', top: 0, left: 0, width: 1280, height: 720, opacity: 0.10 }}&gt;&#10;        &lt;svg width={1280} height={720} viewBox='0 0 1280 720'&gt;&#10;            &lt;g stroke='#FFFFFF' strokeWidth='1.5' fill='none'&gt;&#10;                &lt;path d='M0 180 L280 300 L560 220 L860 340 L1280 240' /&gt;&#10;                &lt;path d='M0 380 L280 500 L560 420 L860 540 L1280 440' /&gt;&#10;                &lt;path d='M280 300 L280 500' /&gt;&#10;                &lt;path d='M860 340 L860 540' /&gt;&#10;                &lt;path d='M560 80 L560 220' /&gt;&#10;            &lt;/g&gt;&#10;        &lt;/svg&gt;&#10;    &lt;/Box&gt;&#10;&#10;    &lt;Box style={{ position: 'relative', zIndex: 1, width: 1280, height: 720, padding: '0 88px', flexDirection: 'column', justifyContent: 'center' }}&gt;&#10;        &lt;Text style={{ fontSize: 160, fontWeight: 'bold', color: '#FFFFFF', lineHeight: 1.0, opacity: 0.94 }}&gt;03&lt;/Text&gt;&#10;        &lt;Box style={{ width: 140, height: 5, background: '#D9534F', marginBottom: 26, marginTop: 6 }} /&gt;&#10;        &lt;Text style={{ fontSize: 52, fontWeight: 'bold', color: '#FFFFFF', lineHeight: 1.25, marginBottom: 30 }}&gt;&#10;            风险识别与计划调整&#10;        &lt;/Text&gt;&#10;&#10;        &lt;Box style={{ flexDirection: 'row', gap: 18 }}&gt;&#10;            &lt;Box style={{ background: 'rgba(255,255,255,0.12)', borderRadius: 4, padding: '10px 20px', borderLeft: '3px solid #D9534F' }}&gt;&#10;                &lt;Text style={{ fontSize: 20, color: '#E8EFF8' }}&gt;算法风险：DRL 收敛性与迁移落差&lt;/Text&gt;&#10;            &lt;/Box&gt;&#10;            &lt;Box style={{ background: 'rgba(255,255,255,0.12)', borderRadius: 4, padding: '10px 20px', borderLeft: '3px solid #D9534F' }}&gt;&#10;                &lt;Text style={{ fontSize: 20, color: '#E8EFF8' }}&gt;工程风险：K8s 经验不足、压力后置&lt;/Text&gt;&#10;            &lt;/Box&gt;&#10;            &lt;Box style={{ background: 'rgba(255,255,255,0.12)', borderRadius: 4, padding: '10px 20px', borderLeft: '3px solid #D9534F' }}&gt;&#10;                &lt;Text style={{ fontSize: 20, color: '#E8EFF8' }}&gt;验证风险：合成负载不等于真实分布&lt;/Text&gt;&#10;            &lt;/Box&gt;&#10;        &lt;/Box&gt;&#10;&#10;        &lt;Text style={{ fontSize: 20, color: '#BFD3EE', marginTop: 30 }}&gt;&#10;            以下调整方案均为&lt;span style={{ color: '#FFFFFF', fontWeight: 'bold' }}&gt;「拟调整」&lt;/span&gt;，恳请老师判断节奏是否合理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34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5" name=""/>
          <p:cNvSpPr/>
          <p:nvPr/>
        </p:nvSpPr>
        <p:spPr>
          <a:xfrm rot="0" flipH="0" flipV="0">
            <a:off x="838200" y="3248025"/>
            <a:ext cx="1333500" cy="4762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38200" y="3543300"/>
            <a:ext cx="10515600" cy="7429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900" b="1">
                <a:solidFill>
                  <a:srgbClr val="FFFFFF"/>
                </a:solidFill>
                <a:latin typeface="Source Han Sans SC"/>
                <a:ea typeface="Source Han Sans SC"/>
              </a:rPr>
              <a:t>风险识别与计划调整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66775" y="4572000"/>
            <a:ext cx="3267075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866775" y="4572000"/>
            <a:ext cx="3267075" cy="419100"/>
          </a:xfrm>
          <a:custGeom>
            <a:pathLst>
              <a:path w="343" h="4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3"/>
                </a:lnTo>
                <a:cubicBezTo>
                  <a:pt x="3" y="43"/>
                  <a:pt x="3" y="44"/>
                  <a:pt x="4" y="44"/>
                </a:cubicBezTo>
                <a:cubicBezTo>
                  <a:pt x="2" y="44"/>
                  <a:pt x="0" y="42"/>
                  <a:pt x="0" y="4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057275" y="46672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算法风险：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DRL </a:t>
            </a: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收敛性与迁移落差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305300" y="4572000"/>
            <a:ext cx="3419475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4305300" y="4572000"/>
            <a:ext cx="3419475" cy="419100"/>
          </a:xfrm>
          <a:custGeom>
            <a:pathLst>
              <a:path w="359" h="4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3"/>
                </a:lnTo>
                <a:cubicBezTo>
                  <a:pt x="3" y="43"/>
                  <a:pt x="3" y="44"/>
                  <a:pt x="4" y="44"/>
                </a:cubicBezTo>
                <a:cubicBezTo>
                  <a:pt x="2" y="44"/>
                  <a:pt x="0" y="42"/>
                  <a:pt x="0" y="4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95800" y="4667250"/>
            <a:ext cx="3009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工程风险：</a:t>
            </a:r>
            <a:r>
              <a:rPr lang="en-US" sz="1500">
                <a:solidFill>
                  <a:srgbClr val="E8EFF8"/>
                </a:solidFill>
                <a:latin typeface="Source Han Sans SC"/>
                <a:ea typeface="Source Han Sans SC"/>
              </a:rPr>
              <a:t>K8s </a:t>
            </a: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经验不足、压力后置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7896225" y="4572000"/>
            <a:ext cx="3457575" cy="419100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7896225" y="4572000"/>
            <a:ext cx="3457575" cy="419100"/>
          </a:xfrm>
          <a:custGeom>
            <a:pathLst>
              <a:path w="363" h="4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3"/>
                </a:lnTo>
                <a:cubicBezTo>
                  <a:pt x="3" y="43"/>
                  <a:pt x="3" y="44"/>
                  <a:pt x="4" y="44"/>
                </a:cubicBezTo>
                <a:cubicBezTo>
                  <a:pt x="2" y="44"/>
                  <a:pt x="0" y="42"/>
                  <a:pt x="0" y="4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86725" y="466725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FF8"/>
                </a:solidFill>
                <a:latin typeface="Source Han Sans SC"/>
                <a:ea typeface="Source Han Sans SC"/>
              </a:rPr>
              <a:t>验证风险：合成负载不等于真实分布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38200" y="5276850"/>
            <a:ext cx="1051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FD3EE"/>
                </a:solidFill>
                <a:latin typeface="Source Han Sans SC"/>
                <a:ea typeface="Source Han Sans SC"/>
              </a:rPr>
              <a:t>以下调整方案均为</a:t>
            </a: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「拟调整」</a:t>
            </a:r>
            <a:r>
              <a:rPr lang="zh-CN" sz="1500">
                <a:solidFill>
                  <a:srgbClr val="BFD3EE"/>
                </a:solidFill>
                <a:latin typeface="Source Han Sans SC"/>
                <a:ea typeface="Source Han Sans SC"/>
              </a:rPr>
              <a:t>，恳请老师判断节奏是否合理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38200" y="1362075"/>
            <a:ext cx="10515600" cy="1828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8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3 · 风险识别与计划调整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2, color: '#4A5568', marginBottom: 14 }}&gt;&#10;            我们主动列出三条最可能让项目失败的风险 —— 每一条都配了&lt;span style={{ fontWeight: 'bold', color: '#0E3F8C' }}&gt;可检查的止损红线&lt;/span&gt;，而不是&quot;我们会努力克服&quot;。&#10;        &lt;/Text&gt;&#10;&#10;        &lt;Box style={{ flexDirection: 'row', gap: 20, flex: 1 }}&gt;&#10;&#10;            &lt;Box style={{ flex: 1, background: '#F7F9FC', border: '1px solid #E5E7EB', borderTop: '4px solid #D9534F', borderRadius: 6, padding: '16px 20px', flexDirection: 'column' }}&gt;&#10;                &lt;Box style={{ flexDirection: 'row', alignItems: 'center', justifyContent: 'space-between', marginBottom: 10 }}&gt;&#10;                    &lt;svg width={146} height={10} viewBox='0 0 146 10'&gt;&#10;                        &lt;rect x='0' y='1' width='26' height='8' rx='2' fill='#D9534F' /&gt;&#10;                        &lt;rect x='30' y='1' width='26' height='8' rx='2' fill='#D9534F' /&gt;&#10;                        &lt;rect x='60' y='1' width='26' height='8' rx='2' fill='#D9534F' /&gt;&#10;                        &lt;rect x='90' y='1' width='26' height='8' rx='2' fill='#D9534F' /&gt;&#10;                        &lt;rect x='120' y='1' width='26' height='8' rx='2' fill='#D6DCE5' /&gt;&#10;                    &lt;/svg&gt;&#10;                    &lt;Text style={{ fontSize: 16, fontWeight: 'bold', color: '#D9534F' }}&gt;等级 高&lt;/Text&gt;&#10;                &lt;/Box&gt;&#10;                &lt;Text style={{ fontSize: 24, fontWeight: 'bold', color: '#0E3F8C', lineHeight: 1.35, marginBottom: 10 }}&gt;&#10;                    算法风险&#10;                &lt;/Text&gt;&#10;                &lt;Text style={{ fontSize: 18, color: '#4A5568', lineHeight: 1.55 }}&gt;&#10;                    DRL 收敛性尚无保证。多目标奖励下的 PPO 训练稳定性差、样本效率低、对超参敏感；即便仿真收敛，&#10;                    从合成负载迁移到真实集群仍存在分布偏移，策略可能整体退化。&#10;                &lt;/Text&gt;&#10;                &lt;Box style={{ marginTop: 'auto', paddingTop: 14, borderTop: '1px dashed #D6DCE5' }}&gt;&#10;                    &lt;Text style={{ fontSize: 16, fontWeight: 'bold', color: '#B03A37', marginBottom: 6 }}&gt;止损红线&lt;/Text&gt;&#10;                    &lt;Text style={{ fontSize: 18, color: '#4A5568', lineHeight: 1.55 }}&gt;&#10;                        Q2 末若未稳定优于 DRF，则退回&lt;span style={{ fontWeight: 'bold', color: '#0E3F8C' }}&gt;「自适应权重 + 启发式」&lt;/span&gt;方案，&#10;                        绝不把 DRL 作为唯一技术路线。&#10;                    &lt;/Text&gt;&#10;                &lt;/Box&gt;&#10;            &lt;/Box&gt;&#10;&#10;            &lt;Box style={{ flex: 1, background: '#F7F9FC', border: '1px solid #E5E7EB', borderTop: '4px solid #D9534F', borderRadius: 6, padding: '16px 20px', flexDirection: 'column' }}&gt;&#10;                &lt;Box style={{ flexDirection: 'row', alignItems: 'center', justifyContent: 'space-between', marginBottom: 10 }}&gt;&#10;                    &lt;svg width={146} height={10} viewBox='0 0 146 10'&gt;&#10;                        &lt;rect x='0' y='1' width='26' height='8' rx='2' fill='#D9534F' /&gt;&#10;                        &lt;rect x='30' y='1' width='26' height='8' rx='2' fill='#D9534F' /&gt;&#10;                        &lt;rect x='60' y='1' width='26' height='8' rx='2' fill='#D9534F' /&gt;&#10;                        &lt;rect x='90' y='1' width='26' height='8' rx='2' fill='#D6DCE5' /&gt;&#10;                        &lt;rect x='120' y='1' width='26' height='8' rx='2' fill='#D6DCE5' /&gt;&#10;                    &lt;/svg&gt;&#10;                    &lt;Text style={{ fontSize: 16, fontWeight: 'bold', color: '#D9534F' }}&gt;等级 中高&lt;/Text&gt;&#10;                &lt;/Box&gt;&#10;                &lt;Text style={{ fontSize: 24, fontWeight: 'bold', color: '#0E3F8C', lineHeight: 1.35, marginBottom: 10 }}&gt;&#10;                    工程风险&#10;                &lt;/Text&gt;&#10;                &lt;Text style={{ fontSize: 18, color: '#4A5568', lineHeight: 1.55 }}&gt;&#10;                    调度器插件需 Go 与 client-go，团队以统计与算法背景为主，K8s 实操积累有限。&#10;                    原计划把插件压在第三季度，一旦延期会连锁影响真实集群验证与结题答辩。&#10;                &lt;/Text&gt;&#10;                &lt;Box style={{ marginTop: 'auto', paddingTop: 14, borderTop: '1px dashed #D6DCE5' }}&gt;&#10;                    &lt;Text style={{ fontSize: 16, fontWeight: 'bold', color: '#B03A37', marginBottom: 6 }}&gt;止损红线&lt;/Text&gt;&#10;                    &lt;Text style={{ fontSize: 18, color: '#4A5568', lineHeight: 1.55 }}&gt;&#10;                        Q2 只承诺仿真闭环；插件在 Q3 前四周只做&lt;span style={{ fontWeight: 'bold', color: '#0E3F8C' }}&gt;最小可行原型&lt;/span&gt;，&#10;                        不做全量 scheduler framework 改造。&#10;                    &lt;/Text&gt;&#10;                &lt;/Box&gt;&#10;            &lt;/Box&gt;&#10;&#10;            &lt;Box style={{ flex: 1, background: '#F7F9FC', border: '1px solid #E5E7EB', borderTop: '4px solid #FFC107', borderRadius: 6, padding: '16px 20px', flexDirection: 'column' }}&gt;&#10;                &lt;Box style={{ flexDirection: 'row', alignItems: 'center', justifyContent: 'space-between', marginBottom: 10 }}&gt;&#10;                    &lt;svg width={146} height={10} viewBox='0 0 146 10'&gt;&#10;                        &lt;rect x='0' y='1' width='26' height='8' rx='2' fill='#FFC107' /&gt;&#10;                        &lt;rect x='30' y='1' width='26' height='8' rx='2' fill='#FFC107' /&gt;&#10;                        &lt;rect x='60' y='1' width='26' height='8' rx='2' fill='#D6DCE5' /&gt;&#10;                        &lt;rect x='90' y='1' width='26' height='8' rx='2' fill='#D6DCE5' /&gt;&#10;                        &lt;rect x='120' y='1' width='26' height='8' rx='2' fill='#D6DCE5' /&gt;&#10;                    &lt;/svg&gt;&#10;                    &lt;Text style={{ fontSize: 16, fontWeight: 'bold', color: '#B8860B' }}&gt;等级 中&lt;/Text&gt;&#10;                &lt;/Box&gt;&#10;                &lt;Text style={{ fontSize: 24, fontWeight: 'bold', color: '#0E3F8C', lineHeight: 1.35, marginBottom: 10 }}&gt;&#10;                    验证风险&#10;                &lt;/Text&gt;&#10;                &lt;Text style={{ fontSize: 18, color: '#4A5568', lineHeight: 1.55 }}&gt;&#10;                    当前 200 任务实验使用参数化合成负载，长尾与突发特征可能偏离真实训练作业；&#10;                    实验室集群数据的采集授权周期长，若 Q3 才开始准备会直接拖慢验证进度。&#10;                &lt;/Text&gt;&#10;                &lt;Box style={{ marginTop: 'auto', paddingTop: 14, borderTop: '1px dashed #D6DCE5' }}&gt;&#10;                    &lt;Text style={{ fontSize: 16, fontWeight: 'bold', color: '#B8860B', marginBottom: 6 }}&gt;止损红线&lt;/Text&gt;&#10;                    &lt;Text style={{ fontSize: 18, color: '#4A5568', lineHeight: 1.55 }}&gt;&#10;                        Q2 内接入公开 GPU trace（Alibaba / Helios 等）做&lt;span style={{ fontWeight: 'bold', color: '#0E3F8C' }}&gt;分布对齐校验&lt;/span&gt;，&#10;                        并提前申请集群只读监控权限。&#10;                    &lt;/Text&gt;&#10;                &lt;/Box&gt;&#10;            &lt;/Box&gt;&#10;&#10;        &lt;/Box&gt;&#10;&#10;        &lt;Box style={{ height: 66, background: '#E8EFF8', borderLeft: '4px solid #1E4FA8', borderRadius: 4, padding: '0 22px', flexDirection: 'row', alignItems: 'center', marginTop: 14 }}&gt;&#10;            &lt;Text style={{ fontSize: 21, color: '#1A2230', lineHeight: 1.4 }}&gt;&#10;                风险不是因为&quot;可能发生&quot;才被列出，而是因为&lt;span style={{ fontWeight: 'bold', color: '#0E3F8C' }}&gt;我们已经为每一条定好了退出条件&lt;/span&gt;&#10;                —— 请老师重点判断第二项（插件后移）的节奏是否可行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中国人民大学 · 大学生创业训练计划&lt;/Text&gt;&#10;        &lt;Text style={{ fontSize: 14, fontWeight: 'bold', color: '#1E4FA8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03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风险识别与计划调整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我们主动列出三条最可能让项目失败的风险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每一条都配了</a:t>
            </a:r>
            <a:r>
              <a:rPr lang="zh-CN" sz="1650" b="1">
                <a:solidFill>
                  <a:srgbClr val="0E3F8C"/>
                </a:solidFill>
                <a:latin typeface="Source Han Sans SC"/>
                <a:ea typeface="Source Han Sans SC"/>
              </a:rPr>
              <a:t>可检查的止损红线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，而不是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我们会努力克服</a:t>
            </a:r>
            <a:r>
              <a:rPr lang="en-US" sz="1650">
                <a:solidFill>
                  <a:srgbClr val="4A5568"/>
                </a:solidFill>
                <a:latin typeface="Source Han Sans SC"/>
                <a:ea typeface="Source Han Sans SC"/>
              </a:rPr>
              <a:t>"</a:t>
            </a:r>
            <a:r>
              <a:rPr lang="zh-CN" sz="1650">
                <a:solidFill>
                  <a:srgbClr val="4A5568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81000" y="1304925"/>
            <a:ext cx="3686175" cy="4143375"/>
          </a:xfrm>
          <a:prstGeom prst="roundRect">
            <a:avLst>
              <a:gd name="adj" fmla="val 155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381000" y="1304925"/>
            <a:ext cx="3686175" cy="4143375"/>
          </a:xfrm>
          <a:custGeom>
            <a:pathLst>
              <a:path w="387" h="435">
                <a:moveTo>
                  <a:pt x="381" y="0"/>
                </a:moveTo>
                <a:cubicBezTo>
                  <a:pt x="384" y="0"/>
                  <a:pt x="387" y="2"/>
                  <a:pt x="387" y="5"/>
                </a:cubicBezTo>
                <a:cubicBezTo>
                  <a:pt x="387" y="5"/>
                  <a:pt x="386" y="4"/>
                  <a:pt x="385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504950"/>
            <a:ext cx="1390650" cy="9525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381375" y="1457325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Source Han Sans SC"/>
                <a:ea typeface="Source Han Sans SC"/>
              </a:rPr>
              <a:t>等级</a:t>
            </a:r>
            <a:r>
              <a:rPr lang="en-US" sz="1200" b="1">
                <a:solidFill>
                  <a:srgbClr val="D9534F"/>
                </a:solidFill>
                <a:latin typeface="Source Han Sans SC"/>
                <a:ea typeface="Source Han Sans SC"/>
              </a:rPr>
              <a:t> </a:t>
            </a:r>
            <a:r>
              <a:rPr lang="zh-CN" sz="1200" b="1">
                <a:solidFill>
                  <a:srgbClr val="D9534F"/>
                </a:solidFill>
                <a:latin typeface="Source Han Sans SC"/>
                <a:ea typeface="Source Han Sans SC"/>
              </a:rPr>
              <a:t>高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71500" y="1743075"/>
            <a:ext cx="3305175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算法风险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71500" y="2209800"/>
            <a:ext cx="3305175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DRL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收敛性尚无保证。多目标奖励下的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PPO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训练稳定性差、样本效率低、对超参敏感；即便仿真收敛，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从合成负载迁移到真实集群仍存在分布偏移，策略可能整体退化。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71500" y="3905250"/>
            <a:ext cx="3305175" cy="1362075"/>
          </a:xfrm>
          <a:custGeom>
            <a:pathLst>
              <a:path w="347" h="143">
                <a:moveTo>
                  <a:pt x="0" y="0"/>
                </a:moveTo>
                <a:lnTo>
                  <a:pt x="347" y="0"/>
                </a:lnTo>
                <a:lnTo>
                  <a:pt x="347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1500" y="40481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03A37"/>
                </a:solidFill>
                <a:latin typeface="Source Han Sans SC"/>
                <a:ea typeface="Source Han Sans SC"/>
              </a:rPr>
              <a:t>止损红线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1500" y="4295775"/>
            <a:ext cx="33051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Q2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末若未稳定优于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DRF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，则退回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「自适应权重</a:t>
            </a: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 +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启发式」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方案，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绝不把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DRL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作为唯一技术路线。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257675" y="1304925"/>
            <a:ext cx="3676650" cy="4143375"/>
          </a:xfrm>
          <a:prstGeom prst="roundRect">
            <a:avLst>
              <a:gd name="adj" fmla="val 1554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257675" y="1304925"/>
            <a:ext cx="3676650" cy="4143375"/>
          </a:xfrm>
          <a:custGeom>
            <a:pathLst>
              <a:path w="386" h="435">
                <a:moveTo>
                  <a:pt x="380" y="0"/>
                </a:moveTo>
                <a:cubicBezTo>
                  <a:pt x="383" y="0"/>
                  <a:pt x="386" y="2"/>
                  <a:pt x="386" y="5"/>
                </a:cubicBezTo>
                <a:cubicBezTo>
                  <a:pt x="386" y="5"/>
                  <a:pt x="385" y="4"/>
                  <a:pt x="384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80" y="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pic>
        <p:nvPicPr>
          <p:cNvPr id="1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48175" y="1504950"/>
            <a:ext cx="1390650" cy="95250"/>
          </a:xfrm>
          <a:prstGeom prst="rect">
            <a:avLst/>
          </a:prstGeom>
          <a:ln/>
        </p:spPr>
      </p:pic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096125" y="1457325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Source Han Sans SC"/>
                <a:ea typeface="Source Han Sans SC"/>
              </a:rPr>
              <a:t>等级</a:t>
            </a:r>
            <a:r>
              <a:rPr lang="en-US" sz="1200" b="1">
                <a:solidFill>
                  <a:srgbClr val="D9534F"/>
                </a:solidFill>
                <a:latin typeface="Source Han Sans SC"/>
                <a:ea typeface="Source Han Sans SC"/>
              </a:rPr>
              <a:t> </a:t>
            </a:r>
            <a:r>
              <a:rPr lang="zh-CN" sz="1200" b="1">
                <a:solidFill>
                  <a:srgbClr val="D9534F"/>
                </a:solidFill>
                <a:latin typeface="Source Han Sans SC"/>
                <a:ea typeface="Source Han Sans SC"/>
              </a:rPr>
              <a:t>中高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448175" y="1743075"/>
            <a:ext cx="329565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工程风险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448175" y="2209800"/>
            <a:ext cx="3295650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调度器插件需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Go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与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client-go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，团队以统计与算法背景为主，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K8s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实操积累有限。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原计划把插件压在第三季度，一旦延期会连锁影响真实集群验证与结题答辩。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4448175" y="3905250"/>
            <a:ext cx="3295650" cy="1362075"/>
          </a:xfrm>
          <a:custGeom>
            <a:pathLst>
              <a:path w="346" h="143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448175" y="404812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03A37"/>
                </a:solidFill>
                <a:latin typeface="Source Han Sans SC"/>
                <a:ea typeface="Source Han Sans SC"/>
              </a:rPr>
              <a:t>止损红线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448175" y="4295775"/>
            <a:ext cx="32956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Q2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只承诺仿真闭环；插件在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Q3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前四周只做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最小可行原型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不做全量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scheduler framework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改造。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124825" y="1304925"/>
            <a:ext cx="3686175" cy="4143375"/>
          </a:xfrm>
          <a:prstGeom prst="roundRect">
            <a:avLst>
              <a:gd name="adj" fmla="val 155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8124825" y="1304925"/>
            <a:ext cx="3686175" cy="4143375"/>
          </a:xfrm>
          <a:custGeom>
            <a:pathLst>
              <a:path w="387" h="435">
                <a:moveTo>
                  <a:pt x="381" y="0"/>
                </a:moveTo>
                <a:cubicBezTo>
                  <a:pt x="384" y="0"/>
                  <a:pt x="387" y="2"/>
                  <a:pt x="387" y="5"/>
                </a:cubicBezTo>
                <a:cubicBezTo>
                  <a:pt x="387" y="5"/>
                  <a:pt x="386" y="4"/>
                  <a:pt x="385" y="4"/>
                </a:cubicBezTo>
                <a:lnTo>
                  <a:pt x="2" y="4"/>
                </a:lnTo>
                <a:cubicBezTo>
                  <a:pt x="1" y="4"/>
                  <a:pt x="0" y="5"/>
                  <a:pt x="0" y="6"/>
                </a:cubicBezTo>
                <a:cubicBezTo>
                  <a:pt x="0" y="3"/>
                  <a:pt x="3" y="0"/>
                  <a:pt x="6" y="0"/>
                </a:cubicBezTo>
                <a:lnTo>
                  <a:pt x="381" y="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15325" y="1504950"/>
            <a:ext cx="1390650" cy="95250"/>
          </a:xfrm>
          <a:prstGeom prst="rect">
            <a:avLst/>
          </a:prstGeom>
          <a:ln/>
        </p:spPr>
      </p:pic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25200" y="1457325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860B"/>
                </a:solidFill>
                <a:latin typeface="Source Han Sans SC"/>
                <a:ea typeface="Source Han Sans SC"/>
              </a:rPr>
              <a:t>等级</a:t>
            </a:r>
            <a:r>
              <a:rPr lang="en-US" sz="1200" b="1">
                <a:solidFill>
                  <a:srgbClr val="B8860B"/>
                </a:solidFill>
                <a:latin typeface="Source Han Sans SC"/>
                <a:ea typeface="Source Han Sans SC"/>
              </a:rPr>
              <a:t> </a:t>
            </a:r>
            <a:r>
              <a:rPr lang="zh-CN" sz="1200" b="1">
                <a:solidFill>
                  <a:srgbClr val="B8860B"/>
                </a:solidFill>
                <a:latin typeface="Source Han Sans SC"/>
                <a:ea typeface="Source Han Sans SC"/>
              </a:rPr>
              <a:t>中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315325" y="1743075"/>
            <a:ext cx="3305175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0E3F8C"/>
                </a:solidFill>
                <a:latin typeface="Source Han Sans SC"/>
                <a:ea typeface="Source Han Sans SC"/>
              </a:rPr>
              <a:t>验证风险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305175" cy="1276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当前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200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任务实验使用参数化合成负载，长尾与突发特征可能偏离真实训练作业；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实验室集群数据的采集授权周期长，若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Q3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才开始准备会直接拖慢验证进度。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315325" y="3905250"/>
            <a:ext cx="3305175" cy="1362075"/>
          </a:xfrm>
          <a:custGeom>
            <a:pathLst>
              <a:path w="347" h="143">
                <a:moveTo>
                  <a:pt x="0" y="0"/>
                </a:moveTo>
                <a:lnTo>
                  <a:pt x="347" y="0"/>
                </a:lnTo>
                <a:lnTo>
                  <a:pt x="347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15325" y="40481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B8860B"/>
                </a:solidFill>
                <a:latin typeface="Source Han Sans SC"/>
                <a:ea typeface="Source Han Sans SC"/>
              </a:rPr>
              <a:t>止损红线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315325" y="4295775"/>
            <a:ext cx="33051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Q2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内接入公开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GPU trace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（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Alibaba / Helios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等）做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分布对齐校验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，</a:t>
            </a:r>
            <a:r>
              <a:rPr lang="en-US" sz="1350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zh-CN" sz="1350">
                <a:solidFill>
                  <a:srgbClr val="4A5568"/>
                </a:solidFill>
                <a:latin typeface="Source Han Sans SC"/>
                <a:ea typeface="Source Han Sans SC"/>
              </a:rPr>
              <a:t>并提前申请集群只读监控权限。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19100" y="5543550"/>
            <a:ext cx="11430000" cy="628650"/>
          </a:xfrm>
          <a:prstGeom prst="roundRect">
            <a:avLst>
              <a:gd name="adj" fmla="val 606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19100" y="5543550"/>
            <a:ext cx="11430000" cy="628650"/>
          </a:xfrm>
          <a:custGeom>
            <a:pathLst>
              <a:path w="1200" h="66">
                <a:moveTo>
                  <a:pt x="4" y="66"/>
                </a:moveTo>
                <a:cubicBezTo>
                  <a:pt x="2" y="66"/>
                  <a:pt x="0" y="64"/>
                  <a:pt x="0" y="6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6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28650" y="5524500"/>
            <a:ext cx="10972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风险不是因为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可能发生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"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才被列出，而是因为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我们已经为每一条定好了退出条件</a:t>
            </a:r>
            <a:r>
              <a:rPr lang="en-US" sz="1575">
                <a:solidFill>
                  <a:srgbClr val="1A2230"/>
                </a:solidFill>
                <a:latin typeface="Source Han Sans SC"/>
                <a:ea typeface="Source Han Sans SC"/>
              </a:rPr>
              <a:t>—— </a:t>
            </a:r>
            <a:r>
              <a:rPr lang="zh-CN" sz="1575">
                <a:solidFill>
                  <a:srgbClr val="1A2230"/>
                </a:solidFill>
                <a:latin typeface="Source Han Sans SC"/>
                <a:ea typeface="Source Han Sans SC"/>
              </a:rPr>
              <a:t>请老师重点判断第二项（插件后移）的节奏是否可行。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中国人民大学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大学生创业训练计划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6" name="" descr="&lt;Slide style={{ width: 1280, height: 720, padding: 0, background: '#FFFFFF', fontFamily: '&quot;Source Han Sans SC&quot;,&quot;Noto Sans SC&quot;,&quot;Microsoft YaHei&quot;,sans-serif' }}&gt;&#10;    &lt;Box style={{ height: 72, background: '#1E4FA8', padding: '0 40px', flexDirection: 'row', alignItems: 'center', justifyContent: 'space-between' }}&gt;&#10;        &lt;Text style={{ fontSize: 22, fontWeight: 'bold', color: '#FFFFFF' }}&gt;03 · 风险识别与计划调整&lt;/Text&gt;&#10;        &lt;Text style={{ fontSize: 14, color: '#BFD3EE' }}&gt;HeteroNexus · 2026 Q1&lt;/Text&gt;&#10;    &lt;/Box&gt;&#10;&#10;    &lt;Box style={{ height: 588, padding: '20px 40px 12px 40px', flexDirection: 'column' }}&gt;&#10;        &lt;Text style={{ fontSize: 21, color: '#4A5568', marginBottom: 12, lineHeight: 1.4 }}&gt;&#10;            基于 Q1 的实验结论，我们对年度计划提出 &lt;span style={{ fontWeight: 'bold', color: '#0E3F8C' }}&gt;5 处拟调整&lt;/span&gt; —— 核心思路是：&lt;span style={{ fontWeight: 'bold', color: '#0E3F8C' }}&gt;把不确定性最强的环节提前&lt;/span&gt;，而不是留到最后。&#10;        &lt;/Text&gt;&#10;&#10;        &lt;Box style={{ flexDirection: 'row', background: '#0E3F8C', height: 40, alignItems: 'center', borderTopLeftRadius: 4, borderTopRightRadius: 4 }}&gt;&#10;            &lt;Text style={{ width: 132, paddingLeft: 18, fontSize: 18, fontWeight: 'bold', color: '#FFFFFF' }}&gt;维度&lt;/Text&gt;&#10;            &lt;Text style={{ width: 288, fontSize: 18, fontWeight: 'bold', color: '#FFFFFF' }}&gt;原计划&lt;/Text&gt;&#10;            &lt;Text style={{ width: 400, fontSize: 18, fontWeight: 'bold', color: '#FFFFFF' }}&gt;拟调整&lt;/Text&gt;&#10;            &lt;Text style={{ flex: 1, fontSize: 18, fontWeight: 'bold', color: '#FFFFFF' }}&gt;调整依据&lt;/Text&gt;&#10;        &lt;/Box&gt;&#10;&#10;        &lt;Box style={{ flexDirection: 'row', height: 52, alignItems: 'center', background: '#FFF8E1', border: '1px solid #E5E7EB', borderTop: 'none' }}&gt;&#10;            &lt;Text style={{ width: 132, paddingLeft: 18, fontSize: 18, fontWeight: 'bold', color: '#0E3F8C' }}&gt;Q2 目标&lt;/Text&gt;&#10;            &lt;Text style={{ width: 288, fontSize: 17, color: '#8B97A8', lineHeight: 1.3 }}&gt;完成 K8s 调度器插件原型&lt;/Text&gt;&#10;            &lt;Text style={{ width: 400, fontSize: 17, fontWeight: 'bold', color: '#1E4FA8', lineHeight: 1.3 }}&gt;先交付“仿真+训练+控制台”闭环，插件顺延至 Q3&lt;/Text&gt;&#10;            &lt;Text style={{ flex: 1, fontSize: 17, color: '#4A5568', lineHeight: 1.3 }}&gt;算法未验证就写插件，等于把风险押在最后一步&lt;/Text&gt;&#10;        &lt;/Box&gt;&#10;&#10;        &lt;Box style={{ flexDirection: 'row', height: 52, alignItems: 'center', background: '#FFFFFF', border: '1px solid #E5E7EB', borderTop: 'none' }}&gt;&#10;            &lt;Text style={{ width: 132, paddingLeft: 18, fontSize: 18, fontWeight: 'bold', color: '#0E3F8C' }}&gt;技术路线&lt;/Text&gt;&#10;            &lt;Text style={{ width: 288, fontSize: 17, color: '#8B97A8', lineHeight: 1.3 }}&gt;Go 全量重写调度器&lt;/Text&gt;&#10;            &lt;Text style={{ width: 400, fontSize: 17, fontWeight: 'bold', color: '#1E4FA8', lineHeight: 1.3 }}&gt;Python 仿真 + Go 最小插件（走 DRA 扩展点）&lt;/Text&gt;&#10;            &lt;Text style={{ flex: 1, fontSize: 17, color: '#4A5568', lineHeight: 1.3 }}&gt;降低学习成本，同时保留 K8s 生态兼容&lt;/Text&gt;&#10;        &lt;/Box&gt;&#10;&#10;        &lt;Box style={{ flexDirection: 'row', height: 52, alignItems: 'center', background: '#FFFFFF', border: '1px solid #E5E7EB', borderTop: 'none' }}&gt;&#10;            &lt;Text style={{ width: 132, paddingLeft: 18, fontSize: 18, fontWeight: 'bold', color: '#0E3F8C' }}&gt;验证方式&lt;/Text&gt;&#10;            &lt;Text style={{ width: 288, fontSize: 17, color: '#8B97A8', lineHeight: 1.3 }}&gt;Q3 直接上真实实验室集群&lt;/Text&gt;&#10;            &lt;Text style={{ width: 400, fontSize: 17, fontWeight: 'bold', color: '#1E4FA8', lineHeight: 1.3 }}&gt;先用公开 GPU trace 回放，再上集群&lt;/Text&gt;&#10;            &lt;Text style={{ flex: 1, fontSize: 17, color: '#4A5568', lineHeight: 1.3 }}&gt;避免用未对齐的合成负载直接做真实验证&lt;/Text&gt;&#10;        &lt;/Box&gt;&#10;&#10;        &lt;Box style={{ flexDirection: 'row', height: 52, alignItems: 'center', background: '#FFFFFF', border: '1px solid #E5E7EB', borderTop: 'none' }}&gt;&#10;            &lt;Text style={{ width: 132, paddingLeft: 18, fontSize: 18, fontWeight: 'bold', color: '#0E3F8C' }}&gt;交付节奏&lt;/Text&gt;&#10;            &lt;Text style={{ width: 288, fontSize: 17, color: '#8B97A8', lineHeight: 1.3 }}&gt;第四季度集中交付与结题&lt;/Text&gt;&#10;            &lt;Text style={{ width: 400, fontSize: 17, fontWeight: 'bold', color: '#1E4FA8', lineHeight: 1.3 }}&gt;每季度一个可演示里程碑，季度末汇报&lt;/Text&gt;&#10;            &lt;Text style={{ flex: 1, fontSize: 17, color: '#4A5568', lineHeight: 1.3 }}&gt;分散延期风险，便于老师逐季度把关&lt;/Text&gt;&#10;        &lt;/Box&gt;&#10;&#10;        &lt;Box style={{ flexDirection: 'row', height: 52, alignItems: 'center', background: '#FFFFFF', border: '1px solid #E5E7EB', borderTop: 'none', borderBottomLeftRadius: 4, borderBottomRightRadius: 4 }}&gt;&#10;            &lt;Text style={{ width: 132, paddingLeft: 18, fontSize: 18, fontWeight: 'bold', color: '#0E3F8C' }}&gt;权重策略&lt;/Text&gt;&#10;            &lt;Text style={{ width: 288, fontSize: 17, color: '#8B97A8', lineHeight: 1.3 }}&gt;训练一个固定权重模型&lt;/Text&gt;&#10;            &lt;Text style={{ width: 400, fontSize: 17, fontWeight: 'bold', color: '#1E4FA8', lineHeight: 1.3 }}&gt;把“权重选择”本身作为可学习动作&lt;/Text&gt;&#10;            &lt;Text style={{ flex: 1, fontSize: 17, color: '#4A5568', lineHeight: 1.3 }}&gt;36 组实验证明不存在全局最优权重&lt;/Text&gt;&#10;        &lt;/Box&gt;&#10;&#10;        &lt;Box style={{ marginTop: 16 }}&gt;&#10;            &lt;svg width={1200} height={104} viewBox='0 0 1200 104' fontFamily='Source Han Sans SC, Noto Sans SC, Microsoft YaHei, sans-serif'&gt;&#10;                &lt;line x1='150' y1='30' x2='1050' y2='30' stroke='#D6DCE5' strokeWidth='4' strokeLinecap='round' /&gt;&#10;                &lt;line x1='150' y1='30' x2='450' y2='30' stroke='#1E4FA8' strokeWidth='4' strokeLinecap='round' /&gt;&#10;                &lt;circle cx='150' cy='30' r='17' fill='#1E4FA8' /&gt;&#10;                &lt;text x='150' y='36' textAnchor='middle' fill='#FFFFFF' fontSize='15' fontWeight='bold'&gt;1&lt;/text&gt;&#10;                &lt;circle cx='450' cy='30' r='17' fill='#FFFFFF' stroke='#3D7BD9' strokeWidth='3' /&gt;&#10;                &lt;text x='450' y='36' textAnchor='middle' fill='#3D7BD9' fontSize='15' fontWeight='bold'&gt;2&lt;/text&gt;&#10;                &lt;circle cx='750' cy='30' r='17' fill='#FFFFFF' stroke='#3D7BD9' strokeWidth='3' /&gt;&#10;                &lt;text x='750' y='36' textAnchor='middle' fill='#3D7BD9' fontSize='15' fontWeight='bold'&gt;3&lt;/text&gt;&#10;                &lt;circle cx='1050' cy='30' r='17' fill='#FFFFFF' stroke='#3D7BD9' strokeWidth='3' /&gt;&#10;                &lt;text x='1050' y='36' textAnchor='middle' fill='#3D7BD9' fontSize='15' fontWeight='bold'&gt;4&lt;/text&gt;&#10;&#10;                &lt;text x='150' y='70' textAnchor='middle' fill='#1E4FA8' fontSize='17' fontWeight='bold'&gt;Q1 已交付&lt;/text&gt;&#10;                &lt;text x='150' y='92' textAnchor='middle' fill='#4A5568' fontSize='14'&gt;仿真引擎 · 基线实验 · 控制台 v1&lt;/text&gt;&#10;&#10;                &lt;text x='450' y='70' textAnchor='middle' fill='#0E3F8C' fontSize='17' fontWeight='bold'&gt;Q2 本次调整重点&lt;/text&gt;&#10;                &lt;text x='450' y='92' textAnchor='middle' fill='#4A5568' fontSize='14'&gt;DRL 训练闭环 · 权重在线选择&lt;/text&gt;&#10;&#10;                &lt;text x='750' y='70' textAnchor='middle' fill='#0E3F8C' fontSize='17' fontWeight='bold'&gt;Q3&lt;/text&gt;&#10;                &lt;text x='750' y='92' textAnchor='middle' fill='#4A5568' fontSize='14'&gt;K8s 插件 · trace 回放 · 集群验证&lt;/text&gt;&#10;&#10;                &lt;text x='1050' y='70' textAnchor='middle' fill='#0E3F8C' fontSize='17' fontWeight='bold'&gt;Q4&lt;/text&gt;&#10;                &lt;text x='1050' y='92' textAnchor='middle' fill='#4A5568' fontSize='14'&gt;结题答辩 · 开源发布 v1.0&lt;/text&gt;&#10;            &lt;/svg&gt;&#10;        &lt;/Box&gt;&#10;&#10;        &lt;Box style={{ height: 58, background: '#E8EFF8', borderLeft: '4px solid #1E4FA8', borderRadius: 4, padding: '0 22px', flexDirection: 'row', alignItems: 'center', marginTop: 'auto' }}&gt;&#10;            &lt;Text style={{ fontSize: 20, color: '#1A2230', lineHeight: 1.4 }}&gt;&#10;                以上调整&lt;span style={{ fontWeight: 'bold', color: '#0E3F8C' }}&gt;不改变项目目标与验收范围&lt;/span&gt;，只重排交付顺序 —— 恳请老师判断是否可行。&#10;            &lt;/Text&gt;&#10;        &lt;/Box&gt;&#10;    &lt;/Box&gt;&#10;&#10;    &lt;Box style={{ height: 60, padding: '0 40px', flexDirection: 'row', alignItems: 'center', justifyContent: 'space-between' }}&gt;&#10;        &lt;Text style={{ fontSize: 14, color: '#8B97A8' }}&gt;拟调整，供老师审议 · 详见《年度规划调整建议表》&lt;/Text&gt;&#10;        &lt;Text style={{ fontSize: 14, fontWeight: 'bold', color: '#1E4FA8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81000" y="219075"/>
            <a:ext cx="2409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Source Han Sans SC"/>
                <a:ea typeface="Source Han Sans SC"/>
              </a:rPr>
              <a:t>03 · </a:t>
            </a: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风险识别与计划调整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391775" y="266700"/>
            <a:ext cx="1419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Source Han Sans SC"/>
                <a:ea typeface="Source Han Sans SC"/>
              </a:rPr>
              <a:t>HeteroNexus · 2026 Q1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81000" y="876300"/>
            <a:ext cx="114300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4A5568"/>
                </a:solidFill>
                <a:latin typeface="Source Han Sans SC"/>
                <a:ea typeface="Source Han Sans SC"/>
              </a:rPr>
              <a:t>基于</a:t>
            </a:r>
            <a:r>
              <a:rPr lang="en-US" sz="1575">
                <a:solidFill>
                  <a:srgbClr val="4A5568"/>
                </a:solidFill>
                <a:latin typeface="Source Han Sans SC"/>
                <a:ea typeface="Source Han Sans SC"/>
              </a:rPr>
              <a:t> Q1 </a:t>
            </a:r>
            <a:r>
              <a:rPr lang="zh-CN" sz="1575">
                <a:solidFill>
                  <a:srgbClr val="4A5568"/>
                </a:solidFill>
                <a:latin typeface="Source Han Sans SC"/>
                <a:ea typeface="Source Han Sans SC"/>
              </a:rPr>
              <a:t>的实验结论，我们对年度计划提出</a:t>
            </a:r>
            <a:r>
              <a:rPr lang="en-US" sz="1575">
                <a:solidFill>
                  <a:srgbClr val="4A5568"/>
                </a:solidFill>
                <a:latin typeface="Source Han Sans SC"/>
                <a:ea typeface="Source Han Sans SC"/>
              </a:rPr>
              <a:t> </a:t>
            </a:r>
            <a:r>
              <a:rPr lang="en-US" sz="1575" b="1">
                <a:solidFill>
                  <a:srgbClr val="0E3F8C"/>
                </a:solidFill>
                <a:latin typeface="Source Han Sans SC"/>
                <a:ea typeface="Source Han Sans SC"/>
              </a:rPr>
              <a:t>5 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处拟调整</a:t>
            </a:r>
            <a:r>
              <a:rPr lang="en-US" sz="1575">
                <a:solidFill>
                  <a:srgbClr val="4A5568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75">
                <a:solidFill>
                  <a:srgbClr val="4A5568"/>
                </a:solidFill>
                <a:latin typeface="Source Han Sans SC"/>
                <a:ea typeface="Source Han Sans SC"/>
              </a:rPr>
              <a:t>核心思路是：</a:t>
            </a:r>
            <a:r>
              <a:rPr lang="zh-CN" sz="1575" b="1">
                <a:solidFill>
                  <a:srgbClr val="0E3F8C"/>
                </a:solidFill>
                <a:latin typeface="Source Han Sans SC"/>
                <a:ea typeface="Source Han Sans SC"/>
              </a:rPr>
              <a:t>把不确定性最强的环节提前</a:t>
            </a:r>
            <a:r>
              <a:rPr lang="zh-CN" sz="1575">
                <a:solidFill>
                  <a:srgbClr val="4A5568"/>
                </a:solidFill>
                <a:latin typeface="Source Han Sans SC"/>
                <a:ea typeface="Source Han Sans SC"/>
              </a:rPr>
              <a:t>，而不是留到最后。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81000" y="1333500"/>
            <a:ext cx="11430000" cy="381000"/>
          </a:xfrm>
          <a:custGeom>
            <a:pathLst>
              <a:path w="1200" h="40">
                <a:moveTo>
                  <a:pt x="4" y="0"/>
                </a:moveTo>
                <a:lnTo>
                  <a:pt x="1196" y="0"/>
                </a:lnTo>
                <a:cubicBezTo>
                  <a:pt x="1198" y="0"/>
                  <a:pt x="1200" y="2"/>
                  <a:pt x="1200" y="4"/>
                </a:cubicBezTo>
                <a:lnTo>
                  <a:pt x="1200" y="40"/>
                </a:lnTo>
                <a:lnTo>
                  <a:pt x="1200" y="40"/>
                </a:lnTo>
                <a:lnTo>
                  <a:pt x="0" y="40"/>
                </a:lnTo>
                <a:lnTo>
                  <a:pt x="0" y="40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81000" y="141922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维度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638300" y="1419225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原计划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381500" y="1419225"/>
            <a:ext cx="3810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拟调整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191500" y="1419225"/>
            <a:ext cx="3619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调整依据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81000" y="1714500"/>
            <a:ext cx="11430000" cy="495300"/>
          </a:xfrm>
          <a:prstGeom prst="rect">
            <a:avLst/>
          </a:prstGeom>
          <a:solidFill>
            <a:srgbClr val="FFF8E1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1000" y="185737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ource Han Sans SC"/>
                <a:ea typeface="Source Han Sans SC"/>
              </a:rPr>
              <a:t>Q2 </a:t>
            </a: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目标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638300" y="1838325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完成</a:t>
            </a:r>
            <a:r>
              <a:rPr lang="en-US" sz="1275">
                <a:solidFill>
                  <a:srgbClr val="8B97A8"/>
                </a:solidFill>
                <a:latin typeface="Source Han Sans SC"/>
                <a:ea typeface="Source Han Sans SC"/>
              </a:rPr>
              <a:t> K8s </a:t>
            </a: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调度器插件原型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381500" y="18383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先交付“仿真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+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训练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+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控制台”闭环，插件顺延至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Q3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91500" y="18383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算法未验证就写插件，等于把风险押在最后一步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381000" y="2209800"/>
            <a:ext cx="11430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81000" y="235267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技术路线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638300" y="2333625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8B97A8"/>
                </a:solidFill>
                <a:latin typeface="Source Han Sans SC"/>
                <a:ea typeface="Source Han Sans SC"/>
              </a:rPr>
              <a:t>Go </a:t>
            </a: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全量重写调度器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381500" y="23336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Python 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仿真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+ Go 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最小插件（走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DRA 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扩展点）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191500" y="23336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降低学习成本，同时保留</a:t>
            </a: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 K8s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生态兼容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81000" y="2705100"/>
            <a:ext cx="11430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81000" y="284797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验证方式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638300" y="2828925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8B97A8"/>
                </a:solidFill>
                <a:latin typeface="Source Han Sans SC"/>
                <a:ea typeface="Source Han Sans SC"/>
              </a:rPr>
              <a:t>Q3 </a:t>
            </a: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直接上真实实验室集群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381500" y="28289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先用公开</a:t>
            </a:r>
            <a:r>
              <a:rPr lang="en-US" sz="1275" b="1">
                <a:solidFill>
                  <a:srgbClr val="1E4FA8"/>
                </a:solidFill>
                <a:latin typeface="Source Han Sans SC"/>
                <a:ea typeface="Source Han Sans SC"/>
              </a:rPr>
              <a:t> GPU trace </a:t>
            </a: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回放，再上集群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191500" y="28289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避免用未对齐的合成负载直接做真实验证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" y="3200400"/>
            <a:ext cx="11430000" cy="49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334327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交付节奏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638300" y="3324225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第四季度集中交付与结题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381500" y="33242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每季度一个可演示里程碑，季度末汇报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191500" y="33242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分散延期风险，便于老师逐季度把关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81000" y="3695700"/>
            <a:ext cx="11430000" cy="495300"/>
          </a:xfrm>
          <a:custGeom>
            <a:pathLst>
              <a:path w="1200" h="52">
                <a:moveTo>
                  <a:pt x="0" y="0"/>
                </a:moveTo>
                <a:lnTo>
                  <a:pt x="1200" y="0"/>
                </a:lnTo>
                <a:lnTo>
                  <a:pt x="1200" y="0"/>
                </a:lnTo>
                <a:lnTo>
                  <a:pt x="1200" y="48"/>
                </a:lnTo>
                <a:cubicBezTo>
                  <a:pt x="1200" y="50"/>
                  <a:pt x="1198" y="52"/>
                  <a:pt x="1196" y="52"/>
                </a:cubicBezTo>
                <a:lnTo>
                  <a:pt x="4" y="52"/>
                </a:lnTo>
                <a:cubicBezTo>
                  <a:pt x="2" y="52"/>
                  <a:pt x="0" y="50"/>
                  <a:pt x="0" y="48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81000" y="3838575"/>
            <a:ext cx="1257300" cy="209550"/>
          </a:xfrm>
          <a:prstGeom prst="rect"/>
        </p:spPr>
        <p:txBody>
          <a:bodyPr wrap="none" lIns="128588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Source Han Sans SC"/>
                <a:ea typeface="Source Han Sans SC"/>
              </a:rPr>
              <a:t>权重策略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638300" y="3819525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>
                <a:solidFill>
                  <a:srgbClr val="8B97A8"/>
                </a:solidFill>
                <a:latin typeface="Source Han Sans SC"/>
                <a:ea typeface="Source Han Sans SC"/>
              </a:rPr>
              <a:t>训练一个固定权重模型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381500" y="3819525"/>
            <a:ext cx="38100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1E4FA8"/>
                </a:solidFill>
                <a:latin typeface="Source Han Sans SC"/>
                <a:ea typeface="Source Han Sans SC"/>
              </a:rPr>
              <a:t>把“权重选择”本身作为可学习动作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191500" y="3819525"/>
            <a:ext cx="361950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>
                <a:solidFill>
                  <a:srgbClr val="4A5568"/>
                </a:solidFill>
                <a:latin typeface="Source Han Sans SC"/>
                <a:ea typeface="Source Han Sans SC"/>
              </a:rPr>
              <a:t>36 </a:t>
            </a:r>
            <a:r>
              <a:rPr lang="zh-CN" sz="1275">
                <a:solidFill>
                  <a:srgbClr val="4A5568"/>
                </a:solidFill>
                <a:latin typeface="Source Han Sans SC"/>
                <a:ea typeface="Source Han Sans SC"/>
              </a:rPr>
              <a:t>组实验证明不存在全局最优权重</a:t>
            </a:r>
            <a:endParaRPr/>
          </a:p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4343400"/>
            <a:ext cx="11430000" cy="990600"/>
          </a:xfrm>
          <a:prstGeom prst="rect">
            <a:avLst/>
          </a:prstGeom>
          <a:ln/>
        </p:spPr>
      </p:pic>
      <p:sp>
        <p:nvSpPr>
          <p:cNvPr id="223" name=""/>
          <p:cNvSpPr/>
          <p:nvPr/>
        </p:nvSpPr>
        <p:spPr>
          <a:xfrm rot="0" flipH="0" flipV="0">
            <a:off x="419100" y="5619750"/>
            <a:ext cx="11430000" cy="552450"/>
          </a:xfrm>
          <a:prstGeom prst="roundRect">
            <a:avLst>
              <a:gd name="adj" fmla="val 689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19100" y="5619750"/>
            <a:ext cx="11430000" cy="552450"/>
          </a:xfrm>
          <a:custGeom>
            <a:pathLst>
              <a:path w="1200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28650" y="5734050"/>
            <a:ext cx="70675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以上调整</a:t>
            </a:r>
            <a:r>
              <a:rPr lang="zh-CN" sz="1500" b="1">
                <a:solidFill>
                  <a:srgbClr val="0E3F8C"/>
                </a:solidFill>
                <a:latin typeface="Source Han Sans SC"/>
                <a:ea typeface="Source Han Sans SC"/>
              </a:rPr>
              <a:t>不改变项目目标与验收范围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，只重排交付顺序</a:t>
            </a:r>
            <a:r>
              <a:rPr lang="en-US" sz="1500">
                <a:solidFill>
                  <a:srgbClr val="1A2230"/>
                </a:solidFill>
                <a:latin typeface="Source Han Sans SC"/>
                <a:ea typeface="Source Han Sans SC"/>
              </a:rPr>
              <a:t> —— </a:t>
            </a:r>
            <a:r>
              <a:rPr lang="zh-CN" sz="1500">
                <a:solidFill>
                  <a:srgbClr val="1A2230"/>
                </a:solidFill>
                <a:latin typeface="Source Han Sans SC"/>
                <a:ea typeface="Source Han Sans SC"/>
              </a:rPr>
              <a:t>恳请老师判断是否可行。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649605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拟调整，供老师审议</a:t>
            </a:r>
            <a:r>
              <a:rPr lang="en-US" sz="1050">
                <a:solidFill>
                  <a:srgbClr val="8B97A8"/>
                </a:solidFill>
                <a:latin typeface="Source Han Sans SC"/>
                <a:ea typeface="Source Han Sans SC"/>
              </a:rPr>
              <a:t> · </a:t>
            </a:r>
            <a:r>
              <a:rPr lang="zh-CN" sz="1050">
                <a:solidFill>
                  <a:srgbClr val="8B97A8"/>
                </a:solidFill>
                <a:latin typeface="Source Han Sans SC"/>
                <a:ea typeface="Source Han Sans SC"/>
              </a:rPr>
              <a:t>详见《年度规划调整建议表》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420475" y="6496050"/>
            <a:ext cx="390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ource Han Sans SC"/>
                <a:ea typeface="Source Han Sans SC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28" name="" descr="&lt;Slide style={{ width: 1280, height: 720, padding: 0, position: 'relative', background: 'linear-gradient(135deg, #0E3F8C 0%, #1E4FA8 100%)', fontFamily: '&quot;Source Han Sans SC&quot;,&quot;Noto Sans SC&quot;,&quot;Microsoft YaHei&quot;,sans-serif' }}&gt;&#10;    &lt;Box style={{ position: 'absolute', top: 0, left: 0, width: 1280, height: 720, opacity: 0.10 }}&gt;&#10;        &lt;svg width={1280} height={720} viewBox='0 0 1280 720'&gt;&#10;            &lt;g stroke='#FFFFFF' strokeWidth='1.5' fill='none'&gt;&#10;                &lt;path d='M0 120 L340 240 L680 160 L1020 280 L1280 200' /&gt;&#10;                &lt;path d='M0 320 L340 440 L680 360 L1020 480 L1280 400' /&gt;&#10;                &lt;path d='M0 520 L340 640 L680 560 L1020 680 L1280 600' /&gt;&#10;                &lt;path d='M340 240 L340 440' /&gt;&#10;                &lt;path d='M1020 280 L1020 480' /&gt;&#10;            &lt;/g&gt;&#10;        &lt;/svg&gt;&#10;    &lt;/Box&gt;&#10;&#10;    &lt;Box style={{ position: 'relative', zIndex: 1, width: 1280, height: 720, padding: '0 88px', flexDirection: 'column', justifyContent: 'center' }}&gt;&#10;&#10;        &lt;Text style={{ fontSize: 16, color: '#BFD3EE', letterSpacing: 3, marginBottom: 12 }}&gt;CLOSING · 恳请老师指导&lt;/Text&gt;&#10;        &lt;Text style={{ fontSize: 44, fontWeight: 'bold', color: '#FFFFFF', lineHeight: 1.25, marginBottom: 8 }}&gt;&#10;            我们需要老师支持的四件事&#10;        &lt;/Text&gt;&#10;        &lt;Box style={{ width: 120, height: 4, background: '#FFC107', marginBottom: 26 }} /&gt;&#10;&#10;        &lt;Box style={{ flexDirection: 'row', gap: 20, marginBottom: 16 }}&gt;&#10;            &lt;Box style={{ flex: 1, flexDirection: 'row', background: 'rgba(255,255,255,0.10)', border: '1px solid rgba(255,255,255,0.18)', borderRadius: 6, padding: '18px 20px', alignItems: 'flex-start' }}&gt;&#10;                &lt;Box style={{ width: 52, height: 52, background: '#FFC107', borderRadius: 4, alignItems: 'center', justifyContent: 'center', marginRight: 16 }}&gt;&#10;                    &lt;Text style={{ fontSize: 28, fontWeight: 'bold', color: '#0E3F8C' }}&gt;1&lt;/Text&gt;&#10;                &lt;/Box&gt;&#10;                &lt;Box style={{ flexDirection: 'column', flex: 1 }}&gt;&#10;                    &lt;Text style={{ fontSize: 20, fontWeight: 'bold', color: '#FFFFFF', marginBottom: 6 }}&gt;判断节奏&lt;/Text&gt;&#10;                    &lt;Text style={{ fontSize: 17, color: '#D6E2F5', lineHeight: 1.5 }}&gt;&#10;                        Q2「先闭环、后插件」的调整是否可行？是否需要进一步压缩或延后某一项？&#10;                    &lt;/Text&gt;&#10;                &lt;/Box&gt;&#10;            &lt;/Box&gt;&#10;&#10;            &lt;Box style={{ flex: 1, flexDirection: 'row', background: 'rgba(255,255,255,0.10)', border: '1px solid rgba(255,255,255,0.18)', borderRadius: 6, padding: '18px 20px', alignItems: 'flex-start' }}&gt;&#10;                &lt;Box style={{ width: 52, height: 52, background: '#FFC107', borderRadius: 4, alignItems: 'center', justifyContent: 'center', marginRight: 16 }}&gt;&#10;                    &lt;Text style={{ fontSize: 28, fontWeight: 'bold', color: '#0E3F8C' }}&gt;2&lt;/Text&gt;&#10;                &lt;/Box&gt;&#10;                &lt;Box style={{ flexDirection: 'column', flex: 1 }}&gt;&#10;                    &lt;Text style={{ fontSize: 20, fontWeight: 'bold', color: '#FFFFFF', marginBottom: 6 }}&gt;集群权限&lt;/Text&gt;&#10;                    &lt;Text style={{ fontSize: 17, color: '#D6E2F5', lineHeight: 1.5 }}&gt;&#10;                        能否协助申请实验室 GPU 集群的只读监控权限，用于 Q3 真实负载采集与验证？&#10;                    &lt;/Text&gt;&#10;                &lt;/Box&gt;&#10;            &lt;/Box&gt;&#10;        &lt;/Box&gt;&#10;&#10;        &lt;Box style={{ flexDirection: 'row', gap: 20, marginBottom: 28 }}&gt;&#10;            &lt;Box style={{ flex: 1, flexDirection: 'row', background: 'rgba(255,255,255,0.10)', border: '1px solid rgba(255,255,255,0.18)', borderRadius: 6, padding: '18px 20px', alignItems: 'flex-start' }}&gt;&#10;                &lt;Box style={{ width: 52, height: 52, background: '#FFC107', borderRadius: 4, alignItems: 'center', justifyContent: 'center', marginRight: 16 }}&gt;&#10;                    &lt;Text style={{ fontSize: 28, fontWeight: 'bold', color: '#0E3F8C' }}&gt;3&lt;/Text&gt;&#10;                &lt;/Box&gt;&#10;                &lt;Box style={{ flexDirection: 'column', flex: 1 }}&gt;&#10;                    &lt;Text style={{ fontSize: 20, fontWeight: 'bold', color: '#FFFFFF', marginBottom: 6 }}&gt;文献校准&lt;/Text&gt;&#10;                    &lt;Text style={{ fontSize: 17, color: '#D6E2F5', lineHeight: 1.5 }}&gt;&#10;                        推荐 1–2 篇多目标 DRL 调度的代表性工作，帮助我们校准奖励设计与评测口径。&#10;                    &lt;/Text&gt;&#10;                &lt;/Box&gt;&#10;            &lt;/Box&gt;&#10;&#10;            &lt;Box style={{ flex: 1, flexDirection: 'row', background: 'rgba(255,255,255,0.10)', border: '1px solid rgba(255,255,255,0.18)', borderRadius: 6, padding: '18px 20px', alignItems: 'flex-start' }}&gt;&#10;                &lt;Box style={{ width: 52, height: 52, background: '#FFC107', borderRadius: 4, alignItems: 'center', justifyContent: 'center', marginRight: 16 }}&gt;&#10;                    &lt;Text style={{ fontSize: 28, fontWeight: 'bold', color: '#0E3F8C' }}&gt;4&lt;/Text&gt;&#10;                &lt;/Box&gt;&#10;                &lt;Box style={{ flexDirection: 'column', flex: 1 }}&gt;&#10;                    &lt;Text style={{ fontSize: 20, fontWeight: 'bold', color: '#FFFFFF', marginBottom: 6 }}&gt;算力与渠道&lt;/Text&gt;&#10;                    &lt;Text style={{ fontSize: 17, color: '#D6E2F5', lineHeight: 1.5 }}&gt;&#10;                        是否有可参与的算力或云资源渠道，用以降低 Q3 真实集群验证的成本？&#10;                    &lt;/Text&gt;&#10;                &lt;/Box&gt;&#10;            &lt;/Box&gt;&#10;        &lt;/Box&gt;&#10;&#10;        &lt;Box style={{ flexDirection: 'row', alignItems: 'center', justifyContent: 'space-between' }}&gt;&#10;            &lt;Text style={{ fontSize: 17, color: '#BFD3EE' }}&gt;&#10;                HeteroNexus 项目组 · 汇报人：聂权 · 中国人民大学统计学院&#10;            &lt;/Text&gt;&#10;            &lt;Text style={{ fontSize: 17, color: '#BFD3EE' }}&gt;&#10;                代码与数据：github.com/quannie255-star/HeteroNexus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alphaModFix amt="10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38200" y="1257300"/>
            <a:ext cx="1051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BFD3EE"/>
                </a:solidFill>
                <a:latin typeface="Source Han Sans SC"/>
                <a:ea typeface="Source Han Sans SC"/>
              </a:rPr>
              <a:t>CLOSING · </a:t>
            </a:r>
            <a:r>
              <a:rPr lang="zh-CN" sz="1200" spc="225">
                <a:solidFill>
                  <a:srgbClr val="BFD3EE"/>
                </a:solidFill>
                <a:latin typeface="Source Han Sans SC"/>
                <a:ea typeface="Source Han Sans SC"/>
              </a:rPr>
              <a:t>恳请老师指导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38200" y="1562100"/>
            <a:ext cx="105156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FFFFFF"/>
                </a:solidFill>
                <a:latin typeface="Source Han Sans SC"/>
                <a:ea typeface="Source Han Sans SC"/>
              </a:rPr>
              <a:t>我们需要老师支持的四件事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838200" y="2266950"/>
            <a:ext cx="11430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38200" y="2552700"/>
            <a:ext cx="516255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1028700" y="272415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209675" y="2809875"/>
            <a:ext cx="142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3F8C"/>
                </a:solidFill>
                <a:latin typeface="Source Han Sans SC"/>
                <a:ea typeface="Source Han Sans SC"/>
              </a:rPr>
              <a:t>1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676400" y="27241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判断节奏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676400" y="3009900"/>
            <a:ext cx="4133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Q2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「先闭环、后插件」的调整是否可行？是否需要进一步压缩或延后某一项？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191250" y="2552700"/>
            <a:ext cx="516255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381750" y="272415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562725" y="2809875"/>
            <a:ext cx="142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3F8C"/>
                </a:solidFill>
                <a:latin typeface="Source Han Sans SC"/>
                <a:ea typeface="Source Han Sans SC"/>
              </a:rPr>
              <a:t>2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029450" y="27241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集群权限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029450" y="3009900"/>
            <a:ext cx="4133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能否协助申请实验室</a:t>
            </a: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 GPU 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集群的只读监控权限，用于</a:t>
            </a: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 Q3 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真实负载采集与验证？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838200" y="3924300"/>
            <a:ext cx="516255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1028700" y="409575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209675" y="4181475"/>
            <a:ext cx="142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3F8C"/>
                </a:solidFill>
                <a:latin typeface="Source Han Sans SC"/>
                <a:ea typeface="Source Han Sans SC"/>
              </a:rPr>
              <a:t>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676400" y="40957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文献校准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676400" y="4381500"/>
            <a:ext cx="4133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推荐</a:t>
            </a: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 1–2 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篇多目标</a:t>
            </a: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 DRL 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调度的代表性工作，帮助我们校准奖励设计与评测口径。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191250" y="3924300"/>
            <a:ext cx="5162550" cy="1219200"/>
          </a:xfrm>
          <a:prstGeom prst="roundRect">
            <a:avLst>
              <a:gd name="adj" fmla="val 468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381750" y="4095750"/>
            <a:ext cx="495300" cy="495300"/>
          </a:xfrm>
          <a:prstGeom prst="roundRect">
            <a:avLst>
              <a:gd name="adj" fmla="val 7692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562725" y="4181475"/>
            <a:ext cx="142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E3F8C"/>
                </a:solidFill>
                <a:latin typeface="Source Han Sans SC"/>
                <a:ea typeface="Source Han Sans SC"/>
              </a:rPr>
              <a:t>4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029450" y="40957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算力与渠道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029450" y="4381500"/>
            <a:ext cx="4133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是否有可参与的算力或云资源渠道，用以降低</a:t>
            </a:r>
            <a:r>
              <a:rPr lang="en-US" sz="1275">
                <a:solidFill>
                  <a:srgbClr val="D6E2F5"/>
                </a:solidFill>
                <a:latin typeface="Source Han Sans SC"/>
                <a:ea typeface="Source Han Sans SC"/>
              </a:rPr>
              <a:t> Q3 </a:t>
            </a:r>
            <a:r>
              <a:rPr lang="zh-CN" sz="1275">
                <a:solidFill>
                  <a:srgbClr val="D6E2F5"/>
                </a:solidFill>
                <a:latin typeface="Source Han Sans SC"/>
                <a:ea typeface="Source Han Sans SC"/>
              </a:rPr>
              <a:t>真实集群验证的成本？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" y="5410200"/>
            <a:ext cx="4495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BFD3EE"/>
                </a:solidFill>
                <a:latin typeface="Source Han Sans SC"/>
                <a:ea typeface="Source Han Sans SC"/>
              </a:rPr>
              <a:t>HeteroNexus </a:t>
            </a: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项目组</a:t>
            </a:r>
            <a:r>
              <a:rPr lang="en-US" sz="1275">
                <a:solidFill>
                  <a:srgbClr val="BFD3EE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汇报人：聂权</a:t>
            </a:r>
            <a:r>
              <a:rPr lang="en-US" sz="1275">
                <a:solidFill>
                  <a:srgbClr val="BFD3EE"/>
                </a:solidFill>
                <a:latin typeface="Source Han Sans SC"/>
                <a:ea typeface="Source Han Sans SC"/>
              </a:rPr>
              <a:t> · </a:t>
            </a: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中国人民大学统计学院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381875" y="5410200"/>
            <a:ext cx="397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BFD3EE"/>
                </a:solidFill>
                <a:latin typeface="Source Han Sans SC"/>
                <a:ea typeface="Source Han Sans SC"/>
              </a:rPr>
              <a:t>代码与数据：</a:t>
            </a:r>
            <a:r>
              <a:rPr lang="en-US" sz="1275">
                <a:solidFill>
                  <a:srgbClr val="BFD3EE"/>
                </a:solidFill>
                <a:latin typeface="Source Han Sans SC"/>
                <a:ea typeface="Source Han Sans SC"/>
              </a:rPr>
              <a:t>github.com/quannie255-star/HeteroNexus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2026-09-17T17:56:35Z</dcterms:created>
  <dcterms:modified xsi:type="dcterms:W3CDTF">2026-09-17T17:56:35Z</dcterms:modified>
</cp:coreProperties>
</file>